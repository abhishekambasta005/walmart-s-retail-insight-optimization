
<file path=[Content_Types].xml><?xml version="1.0" encoding="utf-8"?>
<Types xmlns="http://schemas.openxmlformats.org/package/2006/content-types">
  <Default Extension="png" ContentType="image/png"/>
  <Default Extension="web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xml" ContentType="application/vnd.openxmlformats-officedocument.presentationml.notesSlide+xml"/>
  <Override PartName="/ppt/charts/chartEx1.xml" ContentType="application/vnd.ms-office.chartex+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60" r:id="rId3"/>
    <p:sldId id="257" r:id="rId4"/>
    <p:sldId id="261" r:id="rId5"/>
    <p:sldId id="262" r:id="rId6"/>
    <p:sldId id="263" r:id="rId7"/>
    <p:sldId id="264" r:id="rId8"/>
    <p:sldId id="258" r:id="rId9"/>
    <p:sldId id="265" r:id="rId10"/>
    <p:sldId id="259"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32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bhishek\Desktop\SQL_project%20sample.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bhishek\Desktop\SQL_project%20sample.xlsx" TargetMode="External"/><Relationship Id="rId2" Type="http://schemas.microsoft.com/office/2011/relationships/chartColorStyle" Target="colors6.xml"/><Relationship Id="rId1" Type="http://schemas.microsoft.com/office/2011/relationships/chartStyle" Target="style6.xml"/></Relationships>
</file>

<file path=ppt/charts/_rels/chartEx1.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C:\Users\Abhishek\Desktop\SQL_project%20sampl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8691786819144099E-2"/>
          <c:y val="0.10512937945993814"/>
          <c:w val="0.90787729658792649"/>
          <c:h val="0.77736111111111106"/>
        </c:manualLayout>
      </c:layout>
      <c:lineChart>
        <c:grouping val="standard"/>
        <c:varyColors val="0"/>
        <c:ser>
          <c:idx val="0"/>
          <c:order val="0"/>
          <c:tx>
            <c:strRef>
              <c:f>Sheet1!$B$1</c:f>
              <c:strCache>
                <c:ptCount val="1"/>
                <c:pt idx="0">
                  <c:v>AvgGrowthRate</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c:v>
                </c:pt>
                <c:pt idx="1">
                  <c:v>C</c:v>
                </c:pt>
                <c:pt idx="2">
                  <c:v>B</c:v>
                </c:pt>
              </c:strCache>
            </c:strRef>
          </c:cat>
          <c:val>
            <c:numRef>
              <c:f>Sheet1!$B$2:$B$4</c:f>
              <c:numCache>
                <c:formatCode>General</c:formatCode>
                <c:ptCount val="3"/>
                <c:pt idx="0">
                  <c:v>1.66</c:v>
                </c:pt>
                <c:pt idx="1">
                  <c:v>-2.8</c:v>
                </c:pt>
                <c:pt idx="2">
                  <c:v>-3.45</c:v>
                </c:pt>
              </c:numCache>
            </c:numRef>
          </c:val>
          <c:smooth val="0"/>
          <c:extLst>
            <c:ext xmlns:c16="http://schemas.microsoft.com/office/drawing/2014/chart" uri="{C3380CC4-5D6E-409C-BE32-E72D297353CC}">
              <c16:uniqueId val="{00000000-EA92-4526-8834-B615D6A22C58}"/>
            </c:ext>
          </c:extLst>
        </c:ser>
        <c:dLbls>
          <c:dLblPos val="t"/>
          <c:showLegendKey val="0"/>
          <c:showVal val="1"/>
          <c:showCatName val="0"/>
          <c:showSerName val="0"/>
          <c:showPercent val="0"/>
          <c:showBubbleSize val="0"/>
        </c:dLbls>
        <c:smooth val="0"/>
        <c:axId val="429600832"/>
        <c:axId val="429783680"/>
      </c:lineChart>
      <c:catAx>
        <c:axId val="429600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9783680"/>
        <c:crosses val="autoZero"/>
        <c:auto val="1"/>
        <c:lblAlgn val="ctr"/>
        <c:lblOffset val="100"/>
        <c:noMultiLvlLbl val="0"/>
      </c:catAx>
      <c:valAx>
        <c:axId val="4297836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96008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9207487407526648"/>
          <c:y val="0"/>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24085776781291E-2"/>
          <c:y val="0.14248292115438355"/>
          <c:w val="0.90243853142400943"/>
          <c:h val="0.66798489615116485"/>
        </c:manualLayout>
      </c:layout>
      <c:barChart>
        <c:barDir val="col"/>
        <c:grouping val="clustered"/>
        <c:varyColors val="0"/>
        <c:ser>
          <c:idx val="0"/>
          <c:order val="0"/>
          <c:tx>
            <c:strRef>
              <c:f>Sheet2!$C$2</c:f>
              <c:strCache>
                <c:ptCount val="1"/>
                <c:pt idx="0">
                  <c:v> Total_Profit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Sheet2!$A$3:$B$5</c:f>
              <c:multiLvlStrCache>
                <c:ptCount val="3"/>
                <c:lvl>
                  <c:pt idx="0">
                    <c:v> Home and lifestyle</c:v>
                  </c:pt>
                  <c:pt idx="1">
                    <c:v> Sports and travel</c:v>
                  </c:pt>
                  <c:pt idx="2">
                    <c:v> Food and beverages</c:v>
                  </c:pt>
                </c:lvl>
                <c:lvl>
                  <c:pt idx="0">
                    <c:v>A</c:v>
                  </c:pt>
                  <c:pt idx="1">
                    <c:v>B</c:v>
                  </c:pt>
                  <c:pt idx="2">
                    <c:v>C</c:v>
                  </c:pt>
                </c:lvl>
              </c:multiLvlStrCache>
            </c:multiLvlStrRef>
          </c:cat>
          <c:val>
            <c:numRef>
              <c:f>Sheet2!$C$3:$C$5</c:f>
              <c:numCache>
                <c:formatCode>General</c:formatCode>
                <c:ptCount val="3"/>
                <c:pt idx="0">
                  <c:v>1067.48549999999</c:v>
                </c:pt>
                <c:pt idx="1">
                  <c:v>951.81899999999905</c:v>
                </c:pt>
                <c:pt idx="2">
                  <c:v>1131.7549999999901</c:v>
                </c:pt>
              </c:numCache>
            </c:numRef>
          </c:val>
          <c:extLst>
            <c:ext xmlns:c16="http://schemas.microsoft.com/office/drawing/2014/chart" uri="{C3380CC4-5D6E-409C-BE32-E72D297353CC}">
              <c16:uniqueId val="{00000000-6447-4A83-8C40-95C71F406C62}"/>
            </c:ext>
          </c:extLst>
        </c:ser>
        <c:dLbls>
          <c:dLblPos val="outEnd"/>
          <c:showLegendKey val="0"/>
          <c:showVal val="1"/>
          <c:showCatName val="0"/>
          <c:showSerName val="0"/>
          <c:showPercent val="0"/>
          <c:showBubbleSize val="0"/>
        </c:dLbls>
        <c:gapWidth val="100"/>
        <c:overlap val="-24"/>
        <c:axId val="421181616"/>
        <c:axId val="421181944"/>
      </c:barChart>
      <c:catAx>
        <c:axId val="42118161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1181944"/>
        <c:crosses val="autoZero"/>
        <c:auto val="1"/>
        <c:lblAlgn val="ctr"/>
        <c:lblOffset val="100"/>
        <c:noMultiLvlLbl val="0"/>
      </c:catAx>
      <c:valAx>
        <c:axId val="421181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11816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[SQL_project sample.xlsx]Sheet4!PivotTable15</c:name>
    <c:fmtId val="6"/>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1"/>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2"/>
        <c:spPr>
          <a:solidFill>
            <a:schemeClr val="accent2"/>
          </a:solidFill>
          <a:ln w="19050">
            <a:solidFill>
              <a:schemeClr val="lt1"/>
            </a:solidFill>
          </a:ln>
          <a:effectLst/>
        </c:spPr>
      </c:pivotFmt>
      <c:pivotFmt>
        <c:idx val="3"/>
        <c:spPr>
          <a:solidFill>
            <a:schemeClr val="accent2"/>
          </a:solidFill>
          <a:ln w="19050">
            <a:solidFill>
              <a:schemeClr val="lt1"/>
            </a:solidFill>
          </a:ln>
          <a:effectLst/>
        </c:spPr>
      </c:pivotFmt>
      <c:pivotFmt>
        <c:idx val="4"/>
        <c:spPr>
          <a:solidFill>
            <a:schemeClr val="accent2"/>
          </a:solidFill>
          <a:ln w="19050">
            <a:solidFill>
              <a:schemeClr val="lt1"/>
            </a:solidFill>
          </a:ln>
          <a:effectLst/>
        </c:spPr>
      </c:pivotFmt>
      <c:pivotFmt>
        <c:idx val="5"/>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6"/>
        <c:spPr>
          <a:solidFill>
            <a:schemeClr val="accent2"/>
          </a:solidFill>
          <a:ln w="19050">
            <a:solidFill>
              <a:schemeClr val="lt1"/>
            </a:solidFill>
          </a:ln>
          <a:effectLst/>
        </c:spPr>
      </c:pivotFmt>
      <c:pivotFmt>
        <c:idx val="7"/>
        <c:spPr>
          <a:solidFill>
            <a:schemeClr val="accent2"/>
          </a:solidFill>
          <a:ln w="19050">
            <a:solidFill>
              <a:schemeClr val="lt1"/>
            </a:solidFill>
          </a:ln>
          <a:effectLst/>
        </c:spPr>
      </c:pivotFmt>
      <c:pivotFmt>
        <c:idx val="8"/>
        <c:spPr>
          <a:solidFill>
            <a:schemeClr val="accent2"/>
          </a:solidFill>
          <a:ln w="19050">
            <a:solidFill>
              <a:schemeClr val="lt1"/>
            </a:solidFill>
          </a:ln>
          <a:effectLst/>
        </c:spPr>
      </c:pivotFmt>
    </c:pivotFmts>
    <c:plotArea>
      <c:layout>
        <c:manualLayout>
          <c:layoutTarget val="inner"/>
          <c:xMode val="edge"/>
          <c:yMode val="edge"/>
          <c:x val="0.11116988710344292"/>
          <c:y val="8.1298540230397939E-2"/>
          <c:w val="0.63663524470488275"/>
          <c:h val="0.81462082505074274"/>
        </c:manualLayout>
      </c:layout>
      <c:pieChart>
        <c:varyColors val="1"/>
        <c:ser>
          <c:idx val="0"/>
          <c:order val="0"/>
          <c:tx>
            <c:strRef>
              <c:f>Sheet4!$B$3</c:f>
              <c:strCache>
                <c:ptCount val="1"/>
                <c:pt idx="0">
                  <c:v>Total</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6334-4582-8519-7D8FD7F1DE9A}"/>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6334-4582-8519-7D8FD7F1DE9A}"/>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6334-4582-8519-7D8FD7F1DE9A}"/>
              </c:ext>
            </c:extLst>
          </c:dPt>
          <c:dLbls>
            <c:dLbl>
              <c:idx val="0"/>
              <c:layout>
                <c:manualLayout>
                  <c:x val="-0.25348124205403905"/>
                  <c:y val="0.11320840621861297"/>
                </c:manualLayout>
              </c:layout>
              <c:spPr>
                <a:noFill/>
                <a:ln>
                  <a:noFill/>
                </a:ln>
                <a:effectLst/>
              </c:spPr>
              <c:txPr>
                <a:bodyPr rot="0" spcFirstLastPara="1" vertOverflow="ellipsis" vert="horz" wrap="square" lIns="38100" tIns="19050" rIns="38100" bIns="19050" anchor="ctr" anchorCtr="1">
                  <a:noAutofit/>
                </a:bodyPr>
                <a:lstStyle/>
                <a:p>
                  <a:pPr>
                    <a:defRPr sz="11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layout>
                    <c:manualLayout>
                      <c:w val="0.2509530681303408"/>
                      <c:h val="0.13052482561409548"/>
                    </c:manualLayout>
                  </c15:layout>
                </c:ext>
                <c:ext xmlns:c16="http://schemas.microsoft.com/office/drawing/2014/chart" uri="{C3380CC4-5D6E-409C-BE32-E72D297353CC}">
                  <c16:uniqueId val="{00000001-6334-4582-8519-7D8FD7F1DE9A}"/>
                </c:ext>
              </c:extLst>
            </c:dLbl>
            <c:dLbl>
              <c:idx val="1"/>
              <c:layout>
                <c:manualLayout>
                  <c:x val="7.667631547997289E-2"/>
                  <c:y val="-0.17616186192940425"/>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layout>
                    <c:manualLayout>
                      <c:w val="0.27203750650098674"/>
                      <c:h val="0.11510547232241261"/>
                    </c:manualLayout>
                  </c15:layout>
                </c:ext>
                <c:ext xmlns:c16="http://schemas.microsoft.com/office/drawing/2014/chart" uri="{C3380CC4-5D6E-409C-BE32-E72D297353CC}">
                  <c16:uniqueId val="{00000003-6334-4582-8519-7D8FD7F1DE9A}"/>
                </c:ext>
              </c:extLst>
            </c:dLbl>
            <c:dLbl>
              <c:idx val="2"/>
              <c:layout>
                <c:manualLayout>
                  <c:x val="0.18394762720133581"/>
                  <c:y val="9.00921245653062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334-4582-8519-7D8FD7F1DE9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Sheet4!$A$4:$A$7</c:f>
              <c:strCache>
                <c:ptCount val="3"/>
                <c:pt idx="0">
                  <c:v> High</c:v>
                </c:pt>
                <c:pt idx="1">
                  <c:v> Low</c:v>
                </c:pt>
                <c:pt idx="2">
                  <c:v> Medium</c:v>
                </c:pt>
              </c:strCache>
            </c:strRef>
          </c:cat>
          <c:val>
            <c:numRef>
              <c:f>Sheet4!$B$4:$B$7</c:f>
              <c:numCache>
                <c:formatCode>General</c:formatCode>
                <c:ptCount val="3"/>
                <c:pt idx="0">
                  <c:v>118737.89</c:v>
                </c:pt>
                <c:pt idx="1">
                  <c:v>98272.41</c:v>
                </c:pt>
                <c:pt idx="2">
                  <c:v>105956.45999999999</c:v>
                </c:pt>
              </c:numCache>
            </c:numRef>
          </c:val>
          <c:extLst>
            <c:ext xmlns:c16="http://schemas.microsoft.com/office/drawing/2014/chart" uri="{C3380CC4-5D6E-409C-BE32-E72D297353CC}">
              <c16:uniqueId val="{00000006-6334-4582-8519-7D8FD7F1DE9A}"/>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Sheet7!$C$1</c:f>
              <c:strCache>
                <c:ptCount val="1"/>
                <c:pt idx="0">
                  <c:v> TransactionCount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Sheet7!$A$2:$B$4</c:f>
              <c:multiLvlStrCache>
                <c:ptCount val="3"/>
                <c:lvl>
                  <c:pt idx="0">
                    <c:v> Ewallet</c:v>
                  </c:pt>
                  <c:pt idx="1">
                    <c:v> Cash</c:v>
                  </c:pt>
                  <c:pt idx="2">
                    <c:v> Ewallet</c:v>
                  </c:pt>
                </c:lvl>
                <c:lvl>
                  <c:pt idx="0">
                    <c:v>Yangon</c:v>
                  </c:pt>
                  <c:pt idx="1">
                    <c:v>Naypyitaw</c:v>
                  </c:pt>
                  <c:pt idx="2">
                    <c:v>Mandalay</c:v>
                  </c:pt>
                </c:lvl>
              </c:multiLvlStrCache>
            </c:multiLvlStrRef>
          </c:cat>
          <c:val>
            <c:numRef>
              <c:f>Sheet7!$C$2:$C$4</c:f>
              <c:numCache>
                <c:formatCode>General</c:formatCode>
                <c:ptCount val="3"/>
                <c:pt idx="0">
                  <c:v>126</c:v>
                </c:pt>
                <c:pt idx="1">
                  <c:v>124</c:v>
                </c:pt>
                <c:pt idx="2">
                  <c:v>113</c:v>
                </c:pt>
              </c:numCache>
            </c:numRef>
          </c:val>
          <c:extLst>
            <c:ext xmlns:c16="http://schemas.microsoft.com/office/drawing/2014/chart" uri="{C3380CC4-5D6E-409C-BE32-E72D297353CC}">
              <c16:uniqueId val="{00000000-D2EC-4728-BE37-531B8670BB55}"/>
            </c:ext>
          </c:extLst>
        </c:ser>
        <c:ser>
          <c:idx val="1"/>
          <c:order val="1"/>
          <c:tx>
            <c:strRef>
              <c:f>Sheet7!$D$1</c:f>
              <c:strCache>
                <c:ptCount val="1"/>
                <c:pt idx="0">
                  <c:v> PaymentRank</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Sheet7!$A$2:$B$4</c:f>
              <c:multiLvlStrCache>
                <c:ptCount val="3"/>
                <c:lvl>
                  <c:pt idx="0">
                    <c:v> Ewallet</c:v>
                  </c:pt>
                  <c:pt idx="1">
                    <c:v> Cash</c:v>
                  </c:pt>
                  <c:pt idx="2">
                    <c:v> Ewallet</c:v>
                  </c:pt>
                </c:lvl>
                <c:lvl>
                  <c:pt idx="0">
                    <c:v>Yangon</c:v>
                  </c:pt>
                  <c:pt idx="1">
                    <c:v>Naypyitaw</c:v>
                  </c:pt>
                  <c:pt idx="2">
                    <c:v>Mandalay</c:v>
                  </c:pt>
                </c:lvl>
              </c:multiLvlStrCache>
            </c:multiLvlStrRef>
          </c:cat>
          <c:val>
            <c:numRef>
              <c:f>Sheet7!$D$2:$D$4</c:f>
              <c:numCache>
                <c:formatCode>General</c:formatCode>
                <c:ptCount val="3"/>
                <c:pt idx="0">
                  <c:v>1</c:v>
                </c:pt>
                <c:pt idx="1">
                  <c:v>1</c:v>
                </c:pt>
                <c:pt idx="2">
                  <c:v>1</c:v>
                </c:pt>
              </c:numCache>
            </c:numRef>
          </c:val>
          <c:extLst>
            <c:ext xmlns:c16="http://schemas.microsoft.com/office/drawing/2014/chart" uri="{C3380CC4-5D6E-409C-BE32-E72D297353CC}">
              <c16:uniqueId val="{00000001-D2EC-4728-BE37-531B8670BB55}"/>
            </c:ext>
          </c:extLst>
        </c:ser>
        <c:dLbls>
          <c:dLblPos val="outEnd"/>
          <c:showLegendKey val="0"/>
          <c:showVal val="1"/>
          <c:showCatName val="0"/>
          <c:showSerName val="0"/>
          <c:showPercent val="0"/>
          <c:showBubbleSize val="0"/>
        </c:dLbls>
        <c:gapWidth val="100"/>
        <c:overlap val="-24"/>
        <c:axId val="552087880"/>
        <c:axId val="552089520"/>
      </c:barChart>
      <c:catAx>
        <c:axId val="55208788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52089520"/>
        <c:crosses val="autoZero"/>
        <c:auto val="1"/>
        <c:lblAlgn val="ctr"/>
        <c:lblOffset val="100"/>
        <c:noMultiLvlLbl val="0"/>
      </c:catAx>
      <c:valAx>
        <c:axId val="55208952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520878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[SQL_project sample.xlsx]Sheet9!PivotTable19</c:name>
    <c:fmtId val="22"/>
  </c:pivotSource>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5438744825113271E-2"/>
          <c:y val="0.15161587871993865"/>
          <c:w val="0.85598318263682893"/>
          <c:h val="0.68745590544081547"/>
        </c:manualLayout>
      </c:layout>
      <c:barChart>
        <c:barDir val="col"/>
        <c:grouping val="stacked"/>
        <c:varyColors val="0"/>
        <c:ser>
          <c:idx val="0"/>
          <c:order val="0"/>
          <c:tx>
            <c:strRef>
              <c:f>Sheet9!$B$3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Sheet9!$A$4:$A$13</c:f>
              <c:multiLvlStrCache>
                <c:ptCount val="6"/>
                <c:lvl>
                  <c:pt idx="0">
                    <c:v> Female</c:v>
                  </c:pt>
                  <c:pt idx="1">
                    <c:v> Male</c:v>
                  </c:pt>
                  <c:pt idx="2">
                    <c:v> Female</c:v>
                  </c:pt>
                  <c:pt idx="3">
                    <c:v> Male</c:v>
                  </c:pt>
                  <c:pt idx="4">
                    <c:v> Female</c:v>
                  </c:pt>
                  <c:pt idx="5">
                    <c:v> Male</c:v>
                  </c:pt>
                </c:lvl>
                <c:lvl>
                  <c:pt idx="0">
                    <c:v>2020-01</c:v>
                  </c:pt>
                  <c:pt idx="2">
                    <c:v>2020-02</c:v>
                  </c:pt>
                  <c:pt idx="4">
                    <c:v>2020-03</c:v>
                  </c:pt>
                </c:lvl>
              </c:multiLvlStrCache>
            </c:multiLvlStrRef>
          </c:cat>
          <c:val>
            <c:numRef>
              <c:f>Sheet9!$B$4:$B$13</c:f>
              <c:numCache>
                <c:formatCode>General</c:formatCode>
                <c:ptCount val="6"/>
                <c:pt idx="0">
                  <c:v>59138.982000000004</c:v>
                </c:pt>
                <c:pt idx="1">
                  <c:v>57152.885999999897</c:v>
                </c:pt>
                <c:pt idx="2">
                  <c:v>56335.5554999999</c:v>
                </c:pt>
                <c:pt idx="3">
                  <c:v>40883.818499999899</c:v>
                </c:pt>
                <c:pt idx="4">
                  <c:v>52408.387499999997</c:v>
                </c:pt>
                <c:pt idx="5">
                  <c:v>57047.119499999899</c:v>
                </c:pt>
              </c:numCache>
            </c:numRef>
          </c:val>
          <c:extLst>
            <c:ext xmlns:c16="http://schemas.microsoft.com/office/drawing/2014/chart" uri="{C3380CC4-5D6E-409C-BE32-E72D297353CC}">
              <c16:uniqueId val="{00000000-F547-4BF7-8516-D118E3FC3CC2}"/>
            </c:ext>
          </c:extLst>
        </c:ser>
        <c:dLbls>
          <c:dLblPos val="ctr"/>
          <c:showLegendKey val="0"/>
          <c:showVal val="1"/>
          <c:showCatName val="0"/>
          <c:showSerName val="0"/>
          <c:showPercent val="0"/>
          <c:showBubbleSize val="0"/>
        </c:dLbls>
        <c:gapWidth val="150"/>
        <c:overlap val="100"/>
        <c:axId val="582363656"/>
        <c:axId val="582364968"/>
      </c:barChart>
      <c:catAx>
        <c:axId val="58236365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82364968"/>
        <c:crosses val="autoZero"/>
        <c:auto val="1"/>
        <c:lblAlgn val="ctr"/>
        <c:lblOffset val="100"/>
        <c:noMultiLvlLbl val="0"/>
      </c:catAx>
      <c:valAx>
        <c:axId val="582364968"/>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823636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Sheet8!$C$1</c:f>
              <c:strCache>
                <c:ptCount val="1"/>
                <c:pt idx="0">
                  <c:v> Total_Sales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Sheet8!$A$2:$B$3</c:f>
              <c:multiLvlStrCache>
                <c:ptCount val="2"/>
                <c:lvl>
                  <c:pt idx="0">
                    <c:v> Food and beverages</c:v>
                  </c:pt>
                  <c:pt idx="1">
                    <c:v> Electronic accessories</c:v>
                  </c:pt>
                </c:lvl>
                <c:lvl>
                  <c:pt idx="0">
                    <c:v>Member</c:v>
                  </c:pt>
                  <c:pt idx="1">
                    <c:v>Normal</c:v>
                  </c:pt>
                </c:lvl>
              </c:multiLvlStrCache>
            </c:multiLvlStrRef>
          </c:cat>
          <c:val>
            <c:numRef>
              <c:f>Sheet8!$C$2:$C$3</c:f>
              <c:numCache>
                <c:formatCode>General</c:formatCode>
                <c:ptCount val="2"/>
                <c:pt idx="0">
                  <c:v>31357.62</c:v>
                </c:pt>
                <c:pt idx="1">
                  <c:v>29839.036499999998</c:v>
                </c:pt>
              </c:numCache>
            </c:numRef>
          </c:val>
          <c:extLst>
            <c:ext xmlns:c16="http://schemas.microsoft.com/office/drawing/2014/chart" uri="{C3380CC4-5D6E-409C-BE32-E72D297353CC}">
              <c16:uniqueId val="{00000000-1DCC-4BBD-A587-DA37086E9659}"/>
            </c:ext>
          </c:extLst>
        </c:ser>
        <c:dLbls>
          <c:dLblPos val="outEnd"/>
          <c:showLegendKey val="0"/>
          <c:showVal val="1"/>
          <c:showCatName val="0"/>
          <c:showSerName val="0"/>
          <c:showPercent val="0"/>
          <c:showBubbleSize val="0"/>
        </c:dLbls>
        <c:gapWidth val="115"/>
        <c:overlap val="-20"/>
        <c:axId val="582402032"/>
        <c:axId val="582401376"/>
      </c:barChart>
      <c:catAx>
        <c:axId val="582402032"/>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82401376"/>
        <c:crosses val="autoZero"/>
        <c:auto val="1"/>
        <c:lblAlgn val="ctr"/>
        <c:lblOffset val="100"/>
        <c:noMultiLvlLbl val="0"/>
      </c:catAx>
      <c:valAx>
        <c:axId val="582401376"/>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82402032"/>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Sheet10!$A$2:$A$8</cx:f>
        <cx:lvl ptCount="7">
          <cx:pt idx="0">Saturday</cx:pt>
          <cx:pt idx="1">Tuesday</cx:pt>
          <cx:pt idx="2">Thursday</cx:pt>
          <cx:pt idx="3">Sunday</cx:pt>
          <cx:pt idx="4">Friday</cx:pt>
          <cx:pt idx="5">Wednesday</cx:pt>
          <cx:pt idx="6">Monday</cx:pt>
        </cx:lvl>
      </cx:strDim>
      <cx:numDim type="val">
        <cx:f>Sheet10!$B$2:$B$8</cx:f>
        <cx:lvl ptCount="7" formatCode="General">
          <cx:pt idx="0">56120.809999999998</cx:pt>
          <cx:pt idx="1">51482.25</cx:pt>
          <cx:pt idx="2">45349.25</cx:pt>
          <cx:pt idx="3">44457.889999999999</cx:pt>
          <cx:pt idx="4">43926.339999999997</cx:pt>
          <cx:pt idx="5">43731.139999999999</cx:pt>
          <cx:pt idx="6">37899.080000000002</cx:pt>
        </cx:lvl>
      </cx:numDim>
    </cx:data>
  </cx:chartData>
  <cx:chart>
    <cx:title pos="t" align="ctr" overlay="0"/>
    <cx:plotArea>
      <cx:plotAreaRegion>
        <cx:series layoutId="funnel" uniqueId="{D79E3AB9-3AAC-4510-A8DA-05A5455A64A6}">
          <cx:tx>
            <cx:txData>
              <cx:f>Sheet10!$B$1</cx:f>
              <cx:v> TotalSales</cx:v>
            </cx:txData>
          </cx:tx>
          <cx:dataLabels>
            <cx:visibility seriesName="0" categoryName="0" value="1"/>
          </cx:dataLabels>
          <cx:dataId val="0"/>
        </cx:series>
      </cx:plotAreaRegion>
      <cx:axis id="0">
        <cx:catScaling gapWidth="0.5"/>
        <cx:tickLabels/>
      </cx:axis>
    </cx:plotArea>
    <cx:legend pos="t" align="ctr" overlay="0"/>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427">
  <cs:axisTitle>
    <cs:lnRef idx="0"/>
    <cs:fillRef idx="0"/>
    <cs:effectRef idx="0"/>
    <cs:fontRef idx="minor">
      <a:schemeClr val="lt1">
        <a:lumMod val="95000"/>
      </a:schemeClr>
    </cs:fontRef>
    <cs:defRPr sz="900"/>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cs:chartArea>
  <cs:dataLabel>
    <cs:lnRef idx="0"/>
    <cs:fillRef idx="0"/>
    <cs:effectRef idx="0"/>
    <cs:fontRef idx="minor">
      <a:schemeClr val="lt1">
        <a:lumMod val="9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ln>
        <a:solidFill>
          <a:schemeClr val="tx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9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1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9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1600" b="1" spc="10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9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900"/>
  </cs:valueAxis>
  <cs:wall>
    <cs:lnRef idx="0"/>
    <cs:fillRef idx="0"/>
    <cs:effectRef idx="0"/>
    <cs:fontRef idx="minor">
      <a:schemeClr val="lt1"/>
    </cs:fontRef>
  </cs:wall>
</cs:chartStyle>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5-07-05T09:32:55.35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25136 5009 0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5-07-05T09:32:56.01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23195 5750 0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9ED05-CA9E-4984-98DE-A57E1ED39DAE}" type="datetimeFigureOut">
              <a:rPr lang="en-US" smtClean="0"/>
              <a:t>05-Jul-25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04BD51-5221-4C22-BF84-F4D3391693E8}" type="slidenum">
              <a:rPr lang="en-US" smtClean="0"/>
              <a:t>‹#›</a:t>
            </a:fld>
            <a:endParaRPr lang="en-US"/>
          </a:p>
        </p:txBody>
      </p:sp>
    </p:spTree>
    <p:extLst>
      <p:ext uri="{BB962C8B-B14F-4D97-AF65-F5344CB8AC3E}">
        <p14:creationId xmlns:p14="http://schemas.microsoft.com/office/powerpoint/2010/main" val="359982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04BD51-5221-4C22-BF84-F4D3391693E8}" type="slidenum">
              <a:rPr lang="en-US" smtClean="0"/>
              <a:t>20</a:t>
            </a:fld>
            <a:endParaRPr lang="en-US"/>
          </a:p>
        </p:txBody>
      </p:sp>
    </p:spTree>
    <p:extLst>
      <p:ext uri="{BB962C8B-B14F-4D97-AF65-F5344CB8AC3E}">
        <p14:creationId xmlns:p14="http://schemas.microsoft.com/office/powerpoint/2010/main" val="581989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05-Jul-25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05-Jul-25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05-Jul-25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05-Jul-25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05-Jul-25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05-Jul-25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05-Jul-25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05-Jul-25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05-Jul-25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05-Jul-25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05-Jul-25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05-Jul-25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webp"/><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webp"/><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90.png"/></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hatGPT Image Jul 4, 2025, 10_13_03 AM.png"/>
          <p:cNvPicPr>
            <a:picLocks noChangeAspect="1"/>
          </p:cNvPicPr>
          <p:nvPr/>
        </p:nvPicPr>
        <p:blipFill>
          <a:blip r:embed="rId2"/>
          <a:stretch>
            <a:fillRect/>
          </a:stretch>
        </p:blipFill>
        <p:spPr>
          <a:xfrm>
            <a:off x="0" y="0"/>
            <a:ext cx="9144000" cy="6858000"/>
          </a:xfrm>
          <a:prstGeom prst="rect">
            <a:avLst/>
          </a:prstGeom>
        </p:spPr>
      </p:pic>
      <p:sp>
        <p:nvSpPr>
          <p:cNvPr id="3" name="TextBox 2">
            <a:extLst>
              <a:ext uri="{FF2B5EF4-FFF2-40B4-BE49-F238E27FC236}">
                <a16:creationId xmlns:a16="http://schemas.microsoft.com/office/drawing/2014/main" id="{A1BA8878-AC36-4FDD-B983-E3158EAD7A5C}"/>
              </a:ext>
            </a:extLst>
          </p:cNvPr>
          <p:cNvSpPr txBox="1"/>
          <p:nvPr/>
        </p:nvSpPr>
        <p:spPr>
          <a:xfrm>
            <a:off x="4572000" y="6256708"/>
            <a:ext cx="3736259" cy="369332"/>
          </a:xfrm>
          <a:prstGeom prst="rect">
            <a:avLst/>
          </a:prstGeom>
          <a:noFill/>
        </p:spPr>
        <p:txBody>
          <a:bodyPr wrap="square" rtlCol="0">
            <a:spAutoFit/>
          </a:bodyPr>
          <a:lstStyle/>
          <a:p>
            <a:r>
              <a:rPr lang="en-US" dirty="0">
                <a:solidFill>
                  <a:schemeClr val="bg1"/>
                </a:solidFill>
              </a:rPr>
              <a:t>Presented By ABHISHEK AMBASTA</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85265C26-7175-4789-9210-9A705630B254}"/>
                  </a:ext>
                </a:extLst>
              </p14:cNvPr>
              <p14:cNvContentPartPr/>
              <p14:nvPr/>
            </p14:nvContentPartPr>
            <p14:xfrm>
              <a:off x="9048960" y="1803240"/>
              <a:ext cx="360" cy="360"/>
            </p14:xfrm>
          </p:contentPart>
        </mc:Choice>
        <mc:Fallback xmlns="">
          <p:pic>
            <p:nvPicPr>
              <p:cNvPr id="4" name="Ink 3">
                <a:extLst>
                  <a:ext uri="{FF2B5EF4-FFF2-40B4-BE49-F238E27FC236}">
                    <a16:creationId xmlns:a16="http://schemas.microsoft.com/office/drawing/2014/main" id="{85265C26-7175-4789-9210-9A705630B254}"/>
                  </a:ext>
                </a:extLst>
              </p:cNvPr>
              <p:cNvPicPr/>
              <p:nvPr/>
            </p:nvPicPr>
            <p:blipFill>
              <a:blip r:embed="rId6"/>
              <a:stretch>
                <a:fillRect/>
              </a:stretch>
            </p:blipFill>
            <p:spPr>
              <a:xfrm>
                <a:off x="9033120" y="173988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E92E81D4-C359-4E2B-9EF7-90580043DE42}"/>
                  </a:ext>
                </a:extLst>
              </p14:cNvPr>
              <p14:cNvContentPartPr/>
              <p14:nvPr/>
            </p14:nvContentPartPr>
            <p14:xfrm>
              <a:off x="8350200" y="2070000"/>
              <a:ext cx="360" cy="360"/>
            </p14:xfrm>
          </p:contentPart>
        </mc:Choice>
        <mc:Fallback xmlns="">
          <p:pic>
            <p:nvPicPr>
              <p:cNvPr id="5" name="Ink 4">
                <a:extLst>
                  <a:ext uri="{FF2B5EF4-FFF2-40B4-BE49-F238E27FC236}">
                    <a16:creationId xmlns:a16="http://schemas.microsoft.com/office/drawing/2014/main" id="{E92E81D4-C359-4E2B-9EF7-90580043DE42}"/>
                  </a:ext>
                </a:extLst>
              </p:cNvPr>
              <p:cNvPicPr/>
              <p:nvPr/>
            </p:nvPicPr>
            <p:blipFill>
              <a:blip r:embed="rId6"/>
              <a:stretch>
                <a:fillRect/>
              </a:stretch>
            </p:blipFill>
            <p:spPr>
              <a:xfrm>
                <a:off x="8334360" y="2006640"/>
                <a:ext cx="31680" cy="12708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advTm="17887"/>
    </mc:Choice>
    <mc:Fallback xmlns="">
      <p:transition spd="slow" advTm="1788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049F38-6119-4D5F-A0E2-A297FAEE5102}"/>
              </a:ext>
            </a:extLst>
          </p:cNvPr>
          <p:cNvPicPr>
            <a:picLocks noChangeAspect="1"/>
          </p:cNvPicPr>
          <p:nvPr/>
        </p:nvPicPr>
        <p:blipFill>
          <a:blip r:embed="rId2"/>
          <a:stretch>
            <a:fillRect/>
          </a:stretch>
        </p:blipFill>
        <p:spPr>
          <a:xfrm>
            <a:off x="6768591" y="0"/>
            <a:ext cx="2375409" cy="1306779"/>
          </a:xfrm>
          <a:prstGeom prst="rect">
            <a:avLst/>
          </a:prstGeom>
        </p:spPr>
      </p:pic>
      <p:sp>
        <p:nvSpPr>
          <p:cNvPr id="5" name="TextBox 4">
            <a:extLst>
              <a:ext uri="{FF2B5EF4-FFF2-40B4-BE49-F238E27FC236}">
                <a16:creationId xmlns:a16="http://schemas.microsoft.com/office/drawing/2014/main" id="{7C36EADF-4AC4-4B70-85FC-E35EE7FEA19C}"/>
              </a:ext>
            </a:extLst>
          </p:cNvPr>
          <p:cNvSpPr txBox="1"/>
          <p:nvPr/>
        </p:nvSpPr>
        <p:spPr>
          <a:xfrm>
            <a:off x="619432" y="1045169"/>
            <a:ext cx="7983793" cy="523220"/>
          </a:xfrm>
          <a:prstGeom prst="rect">
            <a:avLst/>
          </a:prstGeom>
          <a:noFill/>
        </p:spPr>
        <p:txBody>
          <a:bodyPr wrap="square" rtlCol="0">
            <a:spAutoFit/>
          </a:bodyPr>
          <a:lstStyle/>
          <a:p>
            <a:r>
              <a:rPr lang="en-US" sz="2800" b="1" dirty="0"/>
              <a:t>Business Problem:</a:t>
            </a:r>
          </a:p>
        </p:txBody>
      </p:sp>
      <p:sp>
        <p:nvSpPr>
          <p:cNvPr id="6" name="TextBox 5">
            <a:extLst>
              <a:ext uri="{FF2B5EF4-FFF2-40B4-BE49-F238E27FC236}">
                <a16:creationId xmlns:a16="http://schemas.microsoft.com/office/drawing/2014/main" id="{6E448E12-AC62-486F-83E5-A0DC582CA98D}"/>
              </a:ext>
            </a:extLst>
          </p:cNvPr>
          <p:cNvSpPr txBox="1"/>
          <p:nvPr/>
        </p:nvSpPr>
        <p:spPr>
          <a:xfrm>
            <a:off x="585018" y="2094271"/>
            <a:ext cx="8052620" cy="1785104"/>
          </a:xfrm>
          <a:prstGeom prst="rect">
            <a:avLst/>
          </a:prstGeom>
          <a:noFill/>
        </p:spPr>
        <p:txBody>
          <a:bodyPr wrap="square" rtlCol="0">
            <a:spAutoFit/>
          </a:bodyPr>
          <a:lstStyle/>
          <a:p>
            <a:r>
              <a:rPr lang="en-US" sz="2200" dirty="0"/>
              <a:t>Walmart wants to optimize its sales strategies by analyzing historical transaction data across branches, customer types, payment methods, and product lines. To achieve this, advanced MySQL queries will be employed to answer challenging business questions related to sales performance, customer segmentation, and product trends.</a:t>
            </a:r>
          </a:p>
        </p:txBody>
      </p:sp>
    </p:spTree>
    <p:extLst>
      <p:ext uri="{BB962C8B-B14F-4D97-AF65-F5344CB8AC3E}">
        <p14:creationId xmlns:p14="http://schemas.microsoft.com/office/powerpoint/2010/main" val="2636941831"/>
      </p:ext>
    </p:extLst>
  </p:cSld>
  <p:clrMapOvr>
    <a:masterClrMapping/>
  </p:clrMapOvr>
  <mc:AlternateContent xmlns:mc="http://schemas.openxmlformats.org/markup-compatibility/2006" xmlns:p14="http://schemas.microsoft.com/office/powerpoint/2010/main">
    <mc:Choice Requires="p14">
      <p:transition spd="slow" p14:dur="2000" advTm="21615"/>
    </mc:Choice>
    <mc:Fallback xmlns="">
      <p:transition spd="slow" advTm="2161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16192" y="859883"/>
            <a:ext cx="8411497" cy="1492716"/>
          </a:xfrm>
          <a:prstGeom prst="rect">
            <a:avLst/>
          </a:prstGeom>
          <a:noFill/>
        </p:spPr>
        <p:txBody>
          <a:bodyPr wrap="square">
            <a:spAutoFit/>
          </a:bodyPr>
          <a:lstStyle/>
          <a:p>
            <a:pPr>
              <a:defRPr sz="2800" b="1"/>
            </a:pPr>
            <a:r>
              <a:rPr dirty="0"/>
              <a:t>Task 1: Top Branch by Sales Growth</a:t>
            </a:r>
            <a:r>
              <a:rPr lang="en-US" dirty="0"/>
              <a:t>:</a:t>
            </a:r>
          </a:p>
          <a:p>
            <a:pPr>
              <a:defRPr sz="2800" b="1"/>
            </a:pPr>
            <a:r>
              <a:rPr lang="en-US" sz="2000" dirty="0"/>
              <a:t>Walmart wants to identify which branch has exhibited the highest sales growth over time. Analyze the total sales for each branch and compare the growth rate across months to find the top performer.</a:t>
            </a:r>
          </a:p>
        </p:txBody>
      </p:sp>
      <p:sp>
        <p:nvSpPr>
          <p:cNvPr id="4" name="TextBox 3"/>
          <p:cNvSpPr txBox="1"/>
          <p:nvPr/>
        </p:nvSpPr>
        <p:spPr>
          <a:xfrm>
            <a:off x="457199" y="2651641"/>
            <a:ext cx="8283678" cy="4031873"/>
          </a:xfrm>
          <a:prstGeom prst="rect">
            <a:avLst/>
          </a:prstGeom>
          <a:noFill/>
        </p:spPr>
        <p:txBody>
          <a:bodyPr wrap="square">
            <a:spAutoFit/>
          </a:bodyPr>
          <a:lstStyle/>
          <a:p>
            <a:pPr>
              <a:defRPr sz="1600"/>
            </a:pPr>
            <a:r>
              <a:rPr lang="en-US" b="1" dirty="0"/>
              <a:t>APPROACH: </a:t>
            </a:r>
            <a:r>
              <a:rPr b="1" dirty="0"/>
              <a:t>Calculated monthly sales and growth using LAG(). Compared previous and current month to find average growth rate.</a:t>
            </a:r>
            <a:endParaRPr lang="en-US" b="1" dirty="0"/>
          </a:p>
          <a:p>
            <a:pPr>
              <a:defRPr sz="1600"/>
            </a:pPr>
            <a:endParaRPr lang="en-US" b="1" dirty="0"/>
          </a:p>
          <a:p>
            <a:pPr>
              <a:defRPr sz="1600"/>
            </a:pPr>
            <a:r>
              <a:rPr lang="en-US" b="1" dirty="0"/>
              <a:t>Query 1: Monthly Sales per Branch:</a:t>
            </a:r>
          </a:p>
          <a:p>
            <a:pPr>
              <a:defRPr sz="1600"/>
            </a:pPr>
            <a:endParaRPr lang="en-US" sz="1600" dirty="0">
              <a:latin typeface="Courier New" panose="02070309020205020404" pitchFamily="49" charset="0"/>
              <a:cs typeface="Courier New" panose="02070309020205020404" pitchFamily="49" charset="0"/>
            </a:endParaRPr>
          </a:p>
          <a:p>
            <a:pPr>
              <a:defRPr sz="1600"/>
            </a:pPr>
            <a:r>
              <a:rPr lang="en-US" sz="1600" dirty="0">
                <a:latin typeface="Courier New" panose="02070309020205020404" pitchFamily="49" charset="0"/>
                <a:cs typeface="Courier New" panose="02070309020205020404" pitchFamily="49" charset="0"/>
              </a:rPr>
              <a:t>SELECT Branch, </a:t>
            </a:r>
          </a:p>
          <a:p>
            <a:pPr>
              <a:defRPr sz="1600"/>
            </a:pPr>
            <a:r>
              <a:rPr lang="en-US" sz="1600" dirty="0">
                <a:latin typeface="Courier New" panose="02070309020205020404" pitchFamily="49" charset="0"/>
                <a:cs typeface="Courier New" panose="02070309020205020404" pitchFamily="49" charset="0"/>
              </a:rPr>
              <a:t>DATE_FORMAT(STR_TO_DATE(Date, '%d-%m-%y'), '%Y-%m’) </a:t>
            </a:r>
          </a:p>
          <a:p>
            <a:pPr>
              <a:defRPr sz="1600"/>
            </a:pPr>
            <a:r>
              <a:rPr lang="en-US" sz="1600" dirty="0">
                <a:latin typeface="Courier New" panose="02070309020205020404" pitchFamily="49" charset="0"/>
                <a:cs typeface="Courier New" panose="02070309020205020404" pitchFamily="49" charset="0"/>
              </a:rPr>
              <a:t>AS </a:t>
            </a:r>
            <a:r>
              <a:rPr lang="en-US" sz="1600" dirty="0" err="1">
                <a:latin typeface="Courier New" panose="02070309020205020404" pitchFamily="49" charset="0"/>
                <a:cs typeface="Courier New" panose="02070309020205020404" pitchFamily="49" charset="0"/>
              </a:rPr>
              <a:t>SalesMonth,Sum</a:t>
            </a:r>
            <a:r>
              <a:rPr lang="en-US" sz="1600" dirty="0">
                <a:latin typeface="Courier New" panose="02070309020205020404" pitchFamily="49" charset="0"/>
                <a:cs typeface="Courier New" panose="02070309020205020404" pitchFamily="49" charset="0"/>
              </a:rPr>
              <a:t>(Total) AS </a:t>
            </a:r>
            <a:r>
              <a:rPr lang="en-US" sz="1600" dirty="0" err="1">
                <a:latin typeface="Courier New" panose="02070309020205020404" pitchFamily="49" charset="0"/>
                <a:cs typeface="Courier New" panose="02070309020205020404" pitchFamily="49" charset="0"/>
              </a:rPr>
              <a:t>MonthlySales</a:t>
            </a:r>
            <a:r>
              <a:rPr lang="en-US" sz="1600" dirty="0">
                <a:latin typeface="Courier New" panose="02070309020205020404" pitchFamily="49" charset="0"/>
                <a:cs typeface="Courier New" panose="02070309020205020404" pitchFamily="49" charset="0"/>
              </a:rPr>
              <a:t> </a:t>
            </a:r>
          </a:p>
          <a:p>
            <a:pPr>
              <a:defRPr sz="1600"/>
            </a:pPr>
            <a:r>
              <a:rPr lang="en-US" sz="1600" dirty="0">
                <a:latin typeface="Courier New" panose="02070309020205020404" pitchFamily="49" charset="0"/>
                <a:cs typeface="Courier New" panose="02070309020205020404" pitchFamily="49" charset="0"/>
              </a:rPr>
              <a:t>From </a:t>
            </a:r>
            <a:r>
              <a:rPr lang="en-US" sz="1600" dirty="0" err="1">
                <a:latin typeface="Courier New" panose="02070309020205020404" pitchFamily="49" charset="0"/>
                <a:cs typeface="Courier New" panose="02070309020205020404" pitchFamily="49" charset="0"/>
              </a:rPr>
              <a:t>Walmartsales_dataGroup</a:t>
            </a:r>
            <a:r>
              <a:rPr lang="en-US" sz="1600" dirty="0">
                <a:latin typeface="Courier New" panose="02070309020205020404" pitchFamily="49" charset="0"/>
                <a:cs typeface="Courier New" panose="02070309020205020404" pitchFamily="49" charset="0"/>
              </a:rPr>
              <a:t> By </a:t>
            </a:r>
            <a:r>
              <a:rPr lang="en-US" sz="1600" dirty="0" err="1">
                <a:latin typeface="Courier New" panose="02070309020205020404" pitchFamily="49" charset="0"/>
                <a:cs typeface="Courier New" panose="02070309020205020404" pitchFamily="49" charset="0"/>
              </a:rPr>
              <a:t>Branch,SalesMonth</a:t>
            </a:r>
            <a:r>
              <a:rPr lang="en-US" sz="1600" dirty="0">
                <a:latin typeface="Courier New" panose="02070309020205020404" pitchFamily="49" charset="0"/>
                <a:cs typeface="Courier New" panose="02070309020205020404" pitchFamily="49" charset="0"/>
              </a:rPr>
              <a:t>;</a:t>
            </a:r>
          </a:p>
          <a:p>
            <a:pPr>
              <a:defRPr sz="1600"/>
            </a:pPr>
            <a:endParaRPr lang="en-US" sz="1600" dirty="0">
              <a:latin typeface="Courier New" panose="02070309020205020404" pitchFamily="49" charset="0"/>
              <a:cs typeface="Courier New" panose="02070309020205020404" pitchFamily="49" charset="0"/>
            </a:endParaRPr>
          </a:p>
          <a:p>
            <a:pPr>
              <a:defRPr sz="1600"/>
            </a:pPr>
            <a:endParaRPr lang="en-US" dirty="0"/>
          </a:p>
          <a:p>
            <a:pPr>
              <a:defRPr sz="1600"/>
            </a:pPr>
            <a:r>
              <a:rPr lang="en-US" dirty="0"/>
              <a:t>This Will Shows total sales per branch per month.</a:t>
            </a:r>
            <a:endParaRPr lang="en-US" sz="1600" dirty="0">
              <a:latin typeface="Courier New" panose="02070309020205020404" pitchFamily="49" charset="0"/>
              <a:cs typeface="Courier New" panose="02070309020205020404" pitchFamily="49" charset="0"/>
            </a:endParaRPr>
          </a:p>
          <a:p>
            <a:pPr>
              <a:defRPr sz="1600"/>
            </a:pPr>
            <a:endParaRPr lang="en-US" sz="1600" dirty="0">
              <a:latin typeface="Courier New" panose="02070309020205020404" pitchFamily="49" charset="0"/>
              <a:cs typeface="Courier New" panose="02070309020205020404" pitchFamily="49" charset="0"/>
            </a:endParaRPr>
          </a:p>
          <a:p>
            <a:pPr>
              <a:defRPr sz="1600"/>
            </a:pPr>
            <a:endParaRPr lang="en-US" sz="1600" dirty="0">
              <a:latin typeface="Courier New" panose="02070309020205020404" pitchFamily="49" charset="0"/>
              <a:cs typeface="Courier New" panose="02070309020205020404" pitchFamily="49" charset="0"/>
            </a:endParaRPr>
          </a:p>
          <a:p>
            <a:pPr>
              <a:defRPr sz="1600"/>
            </a:pPr>
            <a:endParaRPr lang="en-US" sz="1600" dirty="0">
              <a:latin typeface="Courier New" panose="02070309020205020404" pitchFamily="49" charset="0"/>
              <a:cs typeface="Courier New" panose="02070309020205020404" pitchFamily="49" charset="0"/>
            </a:endParaRPr>
          </a:p>
          <a:p>
            <a:pPr>
              <a:defRPr sz="1600"/>
            </a:pPr>
            <a:endParaRPr sz="1600" dirty="0">
              <a:latin typeface="Courier New" panose="02070309020205020404" pitchFamily="49" charset="0"/>
              <a:cs typeface="Courier New" panose="02070309020205020404" pitchFamily="49" charset="0"/>
            </a:endParaRPr>
          </a:p>
        </p:txBody>
      </p:sp>
      <p:pic>
        <p:nvPicPr>
          <p:cNvPr id="6" name="Picture 5">
            <a:extLst>
              <a:ext uri="{FF2B5EF4-FFF2-40B4-BE49-F238E27FC236}">
                <a16:creationId xmlns:a16="http://schemas.microsoft.com/office/drawing/2014/main" id="{1264EB3A-C365-462E-B5E7-53ADBC742E23}"/>
              </a:ext>
            </a:extLst>
          </p:cNvPr>
          <p:cNvPicPr>
            <a:picLocks noChangeAspect="1"/>
          </p:cNvPicPr>
          <p:nvPr/>
        </p:nvPicPr>
        <p:blipFill>
          <a:blip r:embed="rId2"/>
          <a:stretch>
            <a:fillRect/>
          </a:stretch>
        </p:blipFill>
        <p:spPr>
          <a:xfrm>
            <a:off x="6921910" y="1"/>
            <a:ext cx="2222090" cy="12224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5997"/>
    </mc:Choice>
    <mc:Fallback xmlns="">
      <p:transition spd="slow" advTm="1599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140C77-7EF9-487C-B185-78B25E4DD3FF}"/>
              </a:ext>
            </a:extLst>
          </p:cNvPr>
          <p:cNvPicPr>
            <a:picLocks noChangeAspect="1"/>
          </p:cNvPicPr>
          <p:nvPr/>
        </p:nvPicPr>
        <p:blipFill>
          <a:blip r:embed="rId2"/>
          <a:stretch>
            <a:fillRect/>
          </a:stretch>
        </p:blipFill>
        <p:spPr>
          <a:xfrm>
            <a:off x="229864" y="451796"/>
            <a:ext cx="4017671" cy="2645783"/>
          </a:xfrm>
          <a:prstGeom prst="rect">
            <a:avLst/>
          </a:prstGeom>
        </p:spPr>
      </p:pic>
      <p:sp>
        <p:nvSpPr>
          <p:cNvPr id="3" name="TextBox 2">
            <a:extLst>
              <a:ext uri="{FF2B5EF4-FFF2-40B4-BE49-F238E27FC236}">
                <a16:creationId xmlns:a16="http://schemas.microsoft.com/office/drawing/2014/main" id="{7D394F69-22EC-4504-AEE0-A15711CC83CE}"/>
              </a:ext>
            </a:extLst>
          </p:cNvPr>
          <p:cNvSpPr txBox="1"/>
          <p:nvPr/>
        </p:nvSpPr>
        <p:spPr>
          <a:xfrm>
            <a:off x="4709652" y="1451521"/>
            <a:ext cx="3549445" cy="646331"/>
          </a:xfrm>
          <a:prstGeom prst="rect">
            <a:avLst/>
          </a:prstGeom>
          <a:noFill/>
        </p:spPr>
        <p:txBody>
          <a:bodyPr wrap="square" rtlCol="0">
            <a:spAutoFit/>
          </a:bodyPr>
          <a:lstStyle/>
          <a:p>
            <a:r>
              <a:rPr lang="en-US" dirty="0"/>
              <a:t>This Image shows Monthly sales Per Branch.</a:t>
            </a:r>
          </a:p>
        </p:txBody>
      </p:sp>
      <p:pic>
        <p:nvPicPr>
          <p:cNvPr id="4" name="Picture 3">
            <a:extLst>
              <a:ext uri="{FF2B5EF4-FFF2-40B4-BE49-F238E27FC236}">
                <a16:creationId xmlns:a16="http://schemas.microsoft.com/office/drawing/2014/main" id="{3C3B3A11-25F2-4518-8BB7-194D5B0C7255}"/>
              </a:ext>
            </a:extLst>
          </p:cNvPr>
          <p:cNvPicPr>
            <a:picLocks noChangeAspect="1"/>
          </p:cNvPicPr>
          <p:nvPr/>
        </p:nvPicPr>
        <p:blipFill>
          <a:blip r:embed="rId3"/>
          <a:stretch>
            <a:fillRect/>
          </a:stretch>
        </p:blipFill>
        <p:spPr>
          <a:xfrm>
            <a:off x="6772275" y="0"/>
            <a:ext cx="2371725" cy="1304925"/>
          </a:xfrm>
          <a:prstGeom prst="rect">
            <a:avLst/>
          </a:prstGeom>
        </p:spPr>
      </p:pic>
      <p:sp>
        <p:nvSpPr>
          <p:cNvPr id="6" name="TextBox 5">
            <a:extLst>
              <a:ext uri="{FF2B5EF4-FFF2-40B4-BE49-F238E27FC236}">
                <a16:creationId xmlns:a16="http://schemas.microsoft.com/office/drawing/2014/main" id="{B72AA8DF-3B71-47C8-83AE-D5B95A9A24CE}"/>
              </a:ext>
            </a:extLst>
          </p:cNvPr>
          <p:cNvSpPr txBox="1"/>
          <p:nvPr/>
        </p:nvSpPr>
        <p:spPr>
          <a:xfrm>
            <a:off x="229864" y="3333135"/>
            <a:ext cx="8619168" cy="3016210"/>
          </a:xfrm>
          <a:prstGeom prst="rect">
            <a:avLst/>
          </a:prstGeom>
          <a:noFill/>
        </p:spPr>
        <p:txBody>
          <a:bodyPr wrap="square" rtlCol="0">
            <a:spAutoFit/>
          </a:bodyPr>
          <a:lstStyle/>
          <a:p>
            <a:r>
              <a:rPr lang="en-US" b="1" dirty="0"/>
              <a:t>Query 2: Monthly Growth Rate Calculation:</a:t>
            </a:r>
          </a:p>
          <a:p>
            <a:endParaRPr lang="en-US" b="1" dirty="0"/>
          </a:p>
          <a:p>
            <a:r>
              <a:rPr lang="en-US" sz="1400" dirty="0">
                <a:latin typeface="Courier New" panose="02070309020205020404" pitchFamily="49" charset="0"/>
                <a:cs typeface="Courier New" panose="02070309020205020404" pitchFamily="49" charset="0"/>
              </a:rPr>
              <a:t>SELECT Branch, </a:t>
            </a:r>
            <a:r>
              <a:rPr lang="en-US" sz="1400" dirty="0" err="1">
                <a:latin typeface="Courier New" panose="02070309020205020404" pitchFamily="49" charset="0"/>
                <a:cs typeface="Courier New" panose="02070309020205020404" pitchFamily="49" charset="0"/>
              </a:rPr>
              <a:t>SalesMonth</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MonthlySales,LAG</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MonthlySales</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OVER</a:t>
            </a:r>
          </a:p>
          <a:p>
            <a:r>
              <a:rPr lang="en-US" sz="1400" dirty="0">
                <a:latin typeface="Courier New" panose="02070309020205020404" pitchFamily="49" charset="0"/>
                <a:cs typeface="Courier New" panose="02070309020205020404" pitchFamily="49" charset="0"/>
              </a:rPr>
              <a:t>(PARTITION BY Branch ORDER BY </a:t>
            </a:r>
            <a:r>
              <a:rPr lang="en-US" sz="1400" dirty="0" err="1">
                <a:latin typeface="Courier New" panose="02070309020205020404" pitchFamily="49" charset="0"/>
                <a:cs typeface="Courier New" panose="02070309020205020404" pitchFamily="49" charset="0"/>
              </a:rPr>
              <a:t>SalesMonth</a:t>
            </a:r>
            <a:r>
              <a:rPr lang="en-US" sz="1400" dirty="0">
                <a:latin typeface="Courier New" panose="02070309020205020404" pitchFamily="49" charset="0"/>
                <a:cs typeface="Courier New" panose="02070309020205020404" pitchFamily="49" charset="0"/>
              </a:rPr>
              <a:t>) AS </a:t>
            </a:r>
            <a:r>
              <a:rPr lang="en-US" sz="1400" dirty="0" err="1">
                <a:latin typeface="Courier New" panose="02070309020205020404" pitchFamily="49" charset="0"/>
                <a:cs typeface="Courier New" panose="02070309020205020404" pitchFamily="49" charset="0"/>
              </a:rPr>
              <a:t>PrevMonthSales,ROUND</a:t>
            </a:r>
            <a:r>
              <a:rPr lang="en-US" sz="1400" dirty="0">
                <a:latin typeface="Courier New" panose="02070309020205020404" pitchFamily="49" charset="0"/>
                <a:cs typeface="Courier New" panose="02070309020205020404" pitchFamily="49" charset="0"/>
              </a:rPr>
              <a:t>(IFNULL((</a:t>
            </a:r>
            <a:r>
              <a:rPr lang="en-US" sz="1400" dirty="0" err="1">
                <a:latin typeface="Courier New" panose="02070309020205020404" pitchFamily="49" charset="0"/>
                <a:cs typeface="Courier New" panose="02070309020205020404" pitchFamily="49" charset="0"/>
              </a:rPr>
              <a:t>MonthlySales</a:t>
            </a:r>
            <a:r>
              <a:rPr lang="en-US" sz="1400" dirty="0">
                <a:latin typeface="Courier New" panose="02070309020205020404" pitchFamily="49" charset="0"/>
                <a:cs typeface="Courier New" panose="02070309020205020404" pitchFamily="49" charset="0"/>
              </a:rPr>
              <a:t>- LAG(</a:t>
            </a:r>
            <a:r>
              <a:rPr lang="en-US" sz="1400" dirty="0" err="1">
                <a:latin typeface="Courier New" panose="02070309020205020404" pitchFamily="49" charset="0"/>
                <a:cs typeface="Courier New" panose="02070309020205020404" pitchFamily="49" charset="0"/>
              </a:rPr>
              <a:t>MonthlySales</a:t>
            </a:r>
            <a:r>
              <a:rPr lang="en-US" sz="1400" dirty="0">
                <a:latin typeface="Courier New" panose="02070309020205020404" pitchFamily="49" charset="0"/>
                <a:cs typeface="Courier New" panose="02070309020205020404" pitchFamily="49" charset="0"/>
              </a:rPr>
              <a:t>)OVER (PARTITION BY Branch ORDER BY </a:t>
            </a:r>
            <a:r>
              <a:rPr lang="en-US" sz="1400" dirty="0" err="1">
                <a:latin typeface="Courier New" panose="02070309020205020404" pitchFamily="49" charset="0"/>
                <a:cs typeface="Courier New" panose="02070309020205020404" pitchFamily="49" charset="0"/>
              </a:rPr>
              <a:t>SalesMonth</a:t>
            </a:r>
            <a:r>
              <a:rPr lang="en-US" sz="1400" dirty="0">
                <a:latin typeface="Courier New" panose="02070309020205020404" pitchFamily="49" charset="0"/>
                <a:cs typeface="Courier New" panose="02070309020205020404" pitchFamily="49" charset="0"/>
              </a:rPr>
              <a:t>)) / LAG(</a:t>
            </a:r>
            <a:r>
              <a:rPr lang="en-US" sz="1400" dirty="0" err="1">
                <a:latin typeface="Courier New" panose="02070309020205020404" pitchFamily="49" charset="0"/>
                <a:cs typeface="Courier New" panose="02070309020205020404" pitchFamily="49" charset="0"/>
              </a:rPr>
              <a:t>MonthlySales</a:t>
            </a:r>
            <a:r>
              <a:rPr lang="en-US" sz="1400" dirty="0">
                <a:latin typeface="Courier New" panose="02070309020205020404" pitchFamily="49" charset="0"/>
                <a:cs typeface="Courier New" panose="02070309020205020404" pitchFamily="49" charset="0"/>
              </a:rPr>
              <a:t>)OVER (PARTITION BY Branch ORDER BY </a:t>
            </a:r>
            <a:r>
              <a:rPr lang="en-US" sz="1400" dirty="0" err="1">
                <a:latin typeface="Courier New" panose="02070309020205020404" pitchFamily="49" charset="0"/>
                <a:cs typeface="Courier New" panose="02070309020205020404" pitchFamily="49" charset="0"/>
              </a:rPr>
              <a:t>SalesMonth</a:t>
            </a:r>
            <a:r>
              <a:rPr lang="en-US" sz="1400" dirty="0">
                <a:latin typeface="Courier New" panose="02070309020205020404" pitchFamily="49" charset="0"/>
                <a:cs typeface="Courier New" panose="02070309020205020404" pitchFamily="49" charset="0"/>
              </a:rPr>
              <a:t>) * 100,0),2)</a:t>
            </a:r>
          </a:p>
          <a:p>
            <a:r>
              <a:rPr lang="en-US" sz="1400" dirty="0">
                <a:latin typeface="Courier New" panose="02070309020205020404" pitchFamily="49" charset="0"/>
                <a:cs typeface="Courier New" panose="02070309020205020404" pitchFamily="49" charset="0"/>
              </a:rPr>
              <a:t>AS </a:t>
            </a:r>
            <a:r>
              <a:rPr lang="en-US" sz="1400" dirty="0" err="1">
                <a:latin typeface="Courier New" panose="02070309020205020404" pitchFamily="49" charset="0"/>
                <a:cs typeface="Courier New" panose="02070309020205020404" pitchFamily="49" charset="0"/>
              </a:rPr>
              <a:t>GrowthRate</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FROM</a:t>
            </a:r>
          </a:p>
          <a:p>
            <a:r>
              <a:rPr lang="en-US" sz="1400" dirty="0">
                <a:latin typeface="Courier New" panose="02070309020205020404" pitchFamily="49" charset="0"/>
                <a:cs typeface="Courier New" panose="02070309020205020404" pitchFamily="49" charset="0"/>
              </a:rPr>
              <a:t>(SELECT Branch, DATE_FORMAT(STR_TO_DATE(</a:t>
            </a:r>
            <a:r>
              <a:rPr lang="en-US" sz="1400" dirty="0" err="1">
                <a:latin typeface="Courier New" panose="02070309020205020404" pitchFamily="49" charset="0"/>
                <a:cs typeface="Courier New" panose="02070309020205020404" pitchFamily="49" charset="0"/>
              </a:rPr>
              <a:t>Date,'%d</a:t>
            </a:r>
            <a:r>
              <a:rPr lang="en-US" sz="1400" dirty="0">
                <a:latin typeface="Courier New" panose="02070309020205020404" pitchFamily="49" charset="0"/>
                <a:cs typeface="Courier New" panose="02070309020205020404" pitchFamily="49" charset="0"/>
              </a:rPr>
              <a:t>-%m-%y'), '%Y-%m’) </a:t>
            </a:r>
          </a:p>
          <a:p>
            <a:r>
              <a:rPr lang="en-US" sz="1400" dirty="0">
                <a:latin typeface="Courier New" panose="02070309020205020404" pitchFamily="49" charset="0"/>
                <a:cs typeface="Courier New" panose="02070309020205020404" pitchFamily="49" charset="0"/>
              </a:rPr>
              <a:t>AS </a:t>
            </a:r>
            <a:r>
              <a:rPr lang="en-US" sz="1400" dirty="0" err="1">
                <a:latin typeface="Courier New" panose="02070309020205020404" pitchFamily="49" charset="0"/>
                <a:cs typeface="Courier New" panose="02070309020205020404" pitchFamily="49" charset="0"/>
              </a:rPr>
              <a:t>SalesMonth,Sum</a:t>
            </a:r>
            <a:r>
              <a:rPr lang="en-US" sz="1400" dirty="0">
                <a:latin typeface="Courier New" panose="02070309020205020404" pitchFamily="49" charset="0"/>
                <a:cs typeface="Courier New" panose="02070309020205020404" pitchFamily="49" charset="0"/>
              </a:rPr>
              <a:t>(Total) AS </a:t>
            </a:r>
            <a:r>
              <a:rPr lang="en-US" sz="1400" dirty="0" err="1">
                <a:latin typeface="Courier New" panose="02070309020205020404" pitchFamily="49" charset="0"/>
                <a:cs typeface="Courier New" panose="02070309020205020404" pitchFamily="49" charset="0"/>
              </a:rPr>
              <a:t>MonthlySalesFrom</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Walmartsales_dataGroup</a:t>
            </a:r>
            <a:r>
              <a:rPr lang="en-US" sz="1400" dirty="0">
                <a:latin typeface="Courier New" panose="02070309020205020404" pitchFamily="49" charset="0"/>
                <a:cs typeface="Courier New" panose="02070309020205020404" pitchFamily="49" charset="0"/>
              </a:rPr>
              <a:t> By </a:t>
            </a:r>
            <a:r>
              <a:rPr lang="en-US" sz="1400" dirty="0" err="1">
                <a:latin typeface="Courier New" panose="02070309020205020404" pitchFamily="49" charset="0"/>
                <a:cs typeface="Courier New" panose="02070309020205020404" pitchFamily="49" charset="0"/>
              </a:rPr>
              <a:t>Branch,SalesMonth</a:t>
            </a:r>
            <a:r>
              <a:rPr lang="en-US" sz="1400" dirty="0">
                <a:latin typeface="Courier New" panose="02070309020205020404" pitchFamily="49" charset="0"/>
                <a:cs typeface="Courier New" panose="02070309020205020404" pitchFamily="49" charset="0"/>
              </a:rPr>
              <a:t>)AS </a:t>
            </a:r>
            <a:r>
              <a:rPr lang="en-US" sz="1400" dirty="0" err="1">
                <a:latin typeface="Courier New" panose="02070309020205020404" pitchFamily="49" charset="0"/>
                <a:cs typeface="Courier New" panose="02070309020205020404" pitchFamily="49" charset="0"/>
              </a:rPr>
              <a:t>MonthlyData</a:t>
            </a: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42353070"/>
      </p:ext>
    </p:extLst>
  </p:cSld>
  <p:clrMapOvr>
    <a:masterClrMapping/>
  </p:clrMapOvr>
  <mc:AlternateContent xmlns:mc="http://schemas.openxmlformats.org/markup-compatibility/2006" xmlns:p14="http://schemas.microsoft.com/office/powerpoint/2010/main">
    <mc:Choice Requires="p14">
      <p:transition spd="slow" p14:dur="2000" advTm="30533"/>
    </mc:Choice>
    <mc:Fallback xmlns="">
      <p:transition spd="slow" advTm="3053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6C2166-6086-4718-8AD0-B6E2715DA862}"/>
              </a:ext>
            </a:extLst>
          </p:cNvPr>
          <p:cNvPicPr>
            <a:picLocks noChangeAspect="1"/>
          </p:cNvPicPr>
          <p:nvPr/>
        </p:nvPicPr>
        <p:blipFill>
          <a:blip r:embed="rId2"/>
          <a:stretch>
            <a:fillRect/>
          </a:stretch>
        </p:blipFill>
        <p:spPr>
          <a:xfrm>
            <a:off x="6772275" y="0"/>
            <a:ext cx="2371725" cy="1304925"/>
          </a:xfrm>
          <a:prstGeom prst="rect">
            <a:avLst/>
          </a:prstGeom>
        </p:spPr>
      </p:pic>
      <p:pic>
        <p:nvPicPr>
          <p:cNvPr id="3" name="Picture 2">
            <a:extLst>
              <a:ext uri="{FF2B5EF4-FFF2-40B4-BE49-F238E27FC236}">
                <a16:creationId xmlns:a16="http://schemas.microsoft.com/office/drawing/2014/main" id="{0FB4A717-6135-44F4-AFA7-B3B935AC9B5C}"/>
              </a:ext>
            </a:extLst>
          </p:cNvPr>
          <p:cNvPicPr>
            <a:picLocks noChangeAspect="1"/>
          </p:cNvPicPr>
          <p:nvPr/>
        </p:nvPicPr>
        <p:blipFill>
          <a:blip r:embed="rId3"/>
          <a:stretch>
            <a:fillRect/>
          </a:stretch>
        </p:blipFill>
        <p:spPr>
          <a:xfrm>
            <a:off x="1080600" y="1045667"/>
            <a:ext cx="6982799" cy="3429479"/>
          </a:xfrm>
          <a:prstGeom prst="rect">
            <a:avLst/>
          </a:prstGeom>
        </p:spPr>
      </p:pic>
      <p:sp>
        <p:nvSpPr>
          <p:cNvPr id="4" name="TextBox 3">
            <a:extLst>
              <a:ext uri="{FF2B5EF4-FFF2-40B4-BE49-F238E27FC236}">
                <a16:creationId xmlns:a16="http://schemas.microsoft.com/office/drawing/2014/main" id="{6E0D0E71-49C6-42B1-A5CE-7F118271B1B3}"/>
              </a:ext>
            </a:extLst>
          </p:cNvPr>
          <p:cNvSpPr txBox="1"/>
          <p:nvPr/>
        </p:nvSpPr>
        <p:spPr>
          <a:xfrm>
            <a:off x="422787" y="5059148"/>
            <a:ext cx="8347587" cy="923330"/>
          </a:xfrm>
          <a:prstGeom prst="rect">
            <a:avLst/>
          </a:prstGeom>
          <a:noFill/>
        </p:spPr>
        <p:txBody>
          <a:bodyPr wrap="square" rtlCol="0">
            <a:spAutoFit/>
          </a:bodyPr>
          <a:lstStyle/>
          <a:p>
            <a:r>
              <a:rPr lang="en-US" dirty="0"/>
              <a:t>This Shows growth rate </a:t>
            </a:r>
            <a:r>
              <a:rPr lang="en-US" b="1" dirty="0"/>
              <a:t>month by month for each branch, </a:t>
            </a:r>
            <a:r>
              <a:rPr lang="en-US" dirty="0"/>
              <a:t>but this also have some null values that we are going to fix in the next and final query to find out </a:t>
            </a:r>
            <a:r>
              <a:rPr lang="en-US" b="1" dirty="0"/>
              <a:t>TOP BRANCH by sales Growth.</a:t>
            </a:r>
            <a:endParaRPr lang="en-US" dirty="0"/>
          </a:p>
        </p:txBody>
      </p:sp>
    </p:spTree>
    <p:extLst>
      <p:ext uri="{BB962C8B-B14F-4D97-AF65-F5344CB8AC3E}">
        <p14:creationId xmlns:p14="http://schemas.microsoft.com/office/powerpoint/2010/main" val="2581317154"/>
      </p:ext>
    </p:extLst>
  </p:cSld>
  <p:clrMapOvr>
    <a:masterClrMapping/>
  </p:clrMapOvr>
  <mc:AlternateContent xmlns:mc="http://schemas.openxmlformats.org/markup-compatibility/2006" xmlns:p14="http://schemas.microsoft.com/office/powerpoint/2010/main">
    <mc:Choice Requires="p14">
      <p:transition spd="slow" p14:dur="2000" advTm="5798"/>
    </mc:Choice>
    <mc:Fallback xmlns="">
      <p:transition spd="slow" advTm="579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7DB8E0-8017-43FE-A24D-4C5B0EFBF4A7}"/>
              </a:ext>
            </a:extLst>
          </p:cNvPr>
          <p:cNvPicPr>
            <a:picLocks noChangeAspect="1"/>
          </p:cNvPicPr>
          <p:nvPr/>
        </p:nvPicPr>
        <p:blipFill>
          <a:blip r:embed="rId2"/>
          <a:stretch>
            <a:fillRect/>
          </a:stretch>
        </p:blipFill>
        <p:spPr>
          <a:xfrm>
            <a:off x="6772275" y="17206"/>
            <a:ext cx="2371725" cy="1304925"/>
          </a:xfrm>
          <a:prstGeom prst="rect">
            <a:avLst/>
          </a:prstGeom>
        </p:spPr>
      </p:pic>
      <p:sp>
        <p:nvSpPr>
          <p:cNvPr id="3" name="TextBox 2">
            <a:extLst>
              <a:ext uri="{FF2B5EF4-FFF2-40B4-BE49-F238E27FC236}">
                <a16:creationId xmlns:a16="http://schemas.microsoft.com/office/drawing/2014/main" id="{CEFFEECF-B7E4-4A1C-AEC9-CFF4BA522962}"/>
              </a:ext>
            </a:extLst>
          </p:cNvPr>
          <p:cNvSpPr txBox="1"/>
          <p:nvPr/>
        </p:nvSpPr>
        <p:spPr>
          <a:xfrm>
            <a:off x="471948" y="1061884"/>
            <a:ext cx="8101781" cy="4832092"/>
          </a:xfrm>
          <a:prstGeom prst="rect">
            <a:avLst/>
          </a:prstGeom>
          <a:noFill/>
        </p:spPr>
        <p:txBody>
          <a:bodyPr wrap="square" rtlCol="0">
            <a:spAutoFit/>
          </a:bodyPr>
          <a:lstStyle/>
          <a:p>
            <a:r>
              <a:rPr lang="en-US" b="1" dirty="0"/>
              <a:t>Query 3: Average Growth Rate per Branch:</a:t>
            </a:r>
          </a:p>
          <a:p>
            <a:endParaRPr lang="en-US" b="1" dirty="0"/>
          </a:p>
          <a:p>
            <a:r>
              <a:rPr lang="en-US" sz="1600" dirty="0">
                <a:latin typeface="Courier New" panose="02070309020205020404" pitchFamily="49" charset="0"/>
                <a:cs typeface="Courier New" panose="02070309020205020404" pitchFamily="49" charset="0"/>
              </a:rPr>
              <a:t>SELECT Branch, ROUND(AVG(</a:t>
            </a:r>
            <a:r>
              <a:rPr lang="en-US" sz="1600" dirty="0" err="1">
                <a:latin typeface="Courier New" panose="02070309020205020404" pitchFamily="49" charset="0"/>
                <a:cs typeface="Courier New" panose="02070309020205020404" pitchFamily="49" charset="0"/>
              </a:rPr>
              <a:t>GrowthRate</a:t>
            </a:r>
            <a:r>
              <a:rPr lang="en-US" sz="1600" dirty="0">
                <a:latin typeface="Courier New" panose="02070309020205020404" pitchFamily="49" charset="0"/>
                <a:cs typeface="Courier New" panose="02070309020205020404" pitchFamily="49" charset="0"/>
              </a:rPr>
              <a:t>), 2) AS </a:t>
            </a:r>
            <a:r>
              <a:rPr lang="en-US" sz="1600" dirty="0" err="1">
                <a:latin typeface="Courier New" panose="02070309020205020404" pitchFamily="49" charset="0"/>
                <a:cs typeface="Courier New" panose="02070309020205020404" pitchFamily="49" charset="0"/>
              </a:rPr>
              <a:t>AvgGrowthRate</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FROM (SELECT </a:t>
            </a:r>
            <a:r>
              <a:rPr lang="en-US" sz="1600" dirty="0" err="1">
                <a:latin typeface="Courier New" panose="02070309020205020404" pitchFamily="49" charset="0"/>
                <a:cs typeface="Courier New" panose="02070309020205020404" pitchFamily="49" charset="0"/>
              </a:rPr>
              <a:t>Branch,SalesMonth</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ROUND(IFNULL((</a:t>
            </a:r>
            <a:r>
              <a:rPr lang="en-US" sz="1600" dirty="0" err="1">
                <a:latin typeface="Courier New" panose="02070309020205020404" pitchFamily="49" charset="0"/>
                <a:cs typeface="Courier New" panose="02070309020205020404" pitchFamily="49" charset="0"/>
              </a:rPr>
              <a:t>MonthlySales</a:t>
            </a:r>
            <a:r>
              <a:rPr lang="en-US" sz="1600" dirty="0">
                <a:latin typeface="Courier New" panose="02070309020205020404" pitchFamily="49" charset="0"/>
                <a:cs typeface="Courier New" panose="02070309020205020404" pitchFamily="49" charset="0"/>
              </a:rPr>
              <a:t> - LAG(</a:t>
            </a:r>
            <a:r>
              <a:rPr lang="en-US" sz="1600" dirty="0" err="1">
                <a:latin typeface="Courier New" panose="02070309020205020404" pitchFamily="49" charset="0"/>
                <a:cs typeface="Courier New" panose="02070309020205020404" pitchFamily="49" charset="0"/>
              </a:rPr>
              <a:t>MonthlySales</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OVER (PARTITION BY Branch ORDER BY </a:t>
            </a:r>
            <a:r>
              <a:rPr lang="en-US" sz="1600" dirty="0" err="1">
                <a:latin typeface="Courier New" panose="02070309020205020404" pitchFamily="49" charset="0"/>
                <a:cs typeface="Courier New" panose="02070309020205020404" pitchFamily="49" charset="0"/>
              </a:rPr>
              <a:t>SalesMonth</a:t>
            </a:r>
            <a:r>
              <a:rPr lang="en-US" sz="1600" dirty="0">
                <a:latin typeface="Courier New" panose="02070309020205020404" pitchFamily="49" charset="0"/>
                <a:cs typeface="Courier New" panose="02070309020205020404" pitchFamily="49" charset="0"/>
              </a:rPr>
              <a:t>)) / LAG(</a:t>
            </a:r>
            <a:r>
              <a:rPr lang="en-US" sz="1600" dirty="0" err="1">
                <a:latin typeface="Courier New" panose="02070309020205020404" pitchFamily="49" charset="0"/>
                <a:cs typeface="Courier New" panose="02070309020205020404" pitchFamily="49" charset="0"/>
              </a:rPr>
              <a:t>MonthlySales</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OVER (PARTITION BY Branch ORDER BY </a:t>
            </a:r>
            <a:r>
              <a:rPr lang="en-US" sz="1600" dirty="0" err="1">
                <a:latin typeface="Courier New" panose="02070309020205020404" pitchFamily="49" charset="0"/>
                <a:cs typeface="Courier New" panose="02070309020205020404" pitchFamily="49" charset="0"/>
              </a:rPr>
              <a:t>SalesMonth</a:t>
            </a:r>
            <a:r>
              <a:rPr lang="en-US" sz="1600" dirty="0">
                <a:latin typeface="Courier New" panose="02070309020205020404" pitchFamily="49" charset="0"/>
                <a:cs typeface="Courier New" panose="02070309020205020404" pitchFamily="49" charset="0"/>
              </a:rPr>
              <a:t>) * 100, 0), 2) </a:t>
            </a:r>
          </a:p>
          <a:p>
            <a:r>
              <a:rPr lang="en-US" sz="1600" dirty="0">
                <a:latin typeface="Courier New" panose="02070309020205020404" pitchFamily="49" charset="0"/>
                <a:cs typeface="Courier New" panose="02070309020205020404" pitchFamily="49" charset="0"/>
              </a:rPr>
              <a:t>AS </a:t>
            </a:r>
            <a:r>
              <a:rPr lang="en-US" sz="1600" dirty="0" err="1">
                <a:latin typeface="Courier New" panose="02070309020205020404" pitchFamily="49" charset="0"/>
                <a:cs typeface="Courier New" panose="02070309020205020404" pitchFamily="49" charset="0"/>
              </a:rPr>
              <a:t>GrowthRate</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 -- Needed to filter out first month– </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LAG(</a:t>
            </a:r>
            <a:r>
              <a:rPr lang="en-US" sz="1600" dirty="0" err="1">
                <a:latin typeface="Courier New" panose="02070309020205020404" pitchFamily="49" charset="0"/>
                <a:cs typeface="Courier New" panose="02070309020205020404" pitchFamily="49" charset="0"/>
              </a:rPr>
              <a:t>MonthlySales</a:t>
            </a:r>
            <a:r>
              <a:rPr lang="en-US" sz="1600" dirty="0">
                <a:latin typeface="Courier New" panose="02070309020205020404" pitchFamily="49" charset="0"/>
                <a:cs typeface="Courier New" panose="02070309020205020404" pitchFamily="49" charset="0"/>
              </a:rPr>
              <a:t>) OVER (PARTITION BY Branch ORDER BY </a:t>
            </a:r>
            <a:r>
              <a:rPr lang="en-US" sz="1600" dirty="0" err="1">
                <a:latin typeface="Courier New" panose="02070309020205020404" pitchFamily="49" charset="0"/>
                <a:cs typeface="Courier New" panose="02070309020205020404" pitchFamily="49" charset="0"/>
              </a:rPr>
              <a:t>SalesMonth</a:t>
            </a:r>
            <a:r>
              <a:rPr lang="en-US" sz="1600" dirty="0">
                <a:latin typeface="Courier New" panose="02070309020205020404" pitchFamily="49" charset="0"/>
                <a:cs typeface="Courier New" panose="02070309020205020404" pitchFamily="49" charset="0"/>
              </a:rPr>
              <a:t>) AS </a:t>
            </a:r>
            <a:r>
              <a:rPr lang="en-US" sz="1600" dirty="0" err="1">
                <a:latin typeface="Courier New" panose="02070309020205020404" pitchFamily="49" charset="0"/>
                <a:cs typeface="Courier New" panose="02070309020205020404" pitchFamily="49" charset="0"/>
              </a:rPr>
              <a:t>PrevMonthSalesFROM</a:t>
            </a:r>
            <a:r>
              <a:rPr lang="en-US" sz="1600" dirty="0">
                <a:latin typeface="Courier New" panose="02070309020205020404" pitchFamily="49" charset="0"/>
                <a:cs typeface="Courier New" panose="02070309020205020404" pitchFamily="49" charset="0"/>
              </a:rPr>
              <a:t> (SELECT Branch, DATE_FORMAT(STR_TO_DATE(Date, '%d-%m-%y'), '%Y-%m') AS </a:t>
            </a:r>
            <a:r>
              <a:rPr lang="en-US" sz="1600" dirty="0" err="1">
                <a:latin typeface="Courier New" panose="02070309020205020404" pitchFamily="49" charset="0"/>
                <a:cs typeface="Courier New" panose="02070309020205020404" pitchFamily="49" charset="0"/>
              </a:rPr>
              <a:t>SalesMonth,SUM</a:t>
            </a:r>
            <a:r>
              <a:rPr lang="en-US" sz="1600" dirty="0">
                <a:latin typeface="Courier New" panose="02070309020205020404" pitchFamily="49" charset="0"/>
                <a:cs typeface="Courier New" panose="02070309020205020404" pitchFamily="49" charset="0"/>
              </a:rPr>
              <a:t>(Total) AS </a:t>
            </a:r>
            <a:r>
              <a:rPr lang="en-US" sz="1600" dirty="0" err="1">
                <a:latin typeface="Courier New" panose="02070309020205020404" pitchFamily="49" charset="0"/>
                <a:cs typeface="Courier New" panose="02070309020205020404" pitchFamily="49" charset="0"/>
              </a:rPr>
              <a:t>MonthlySalesFROM</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Walmartsales_data</a:t>
            </a:r>
            <a:r>
              <a:rPr lang="en-US" sz="1600" dirty="0">
                <a:latin typeface="Courier New" panose="02070309020205020404" pitchFamily="49" charset="0"/>
                <a:cs typeface="Courier New" panose="02070309020205020404" pitchFamily="49" charset="0"/>
              </a:rPr>
              <a:t> GROUP BY Branch, </a:t>
            </a:r>
            <a:r>
              <a:rPr lang="en-US" sz="1600" dirty="0" err="1">
                <a:latin typeface="Courier New" panose="02070309020205020404" pitchFamily="49" charset="0"/>
                <a:cs typeface="Courier New" panose="02070309020205020404" pitchFamily="49" charset="0"/>
              </a:rPr>
              <a:t>SalesMonth</a:t>
            </a:r>
            <a:r>
              <a:rPr lang="en-US" sz="1600" dirty="0">
                <a:latin typeface="Courier New" panose="02070309020205020404" pitchFamily="49" charset="0"/>
                <a:cs typeface="Courier New" panose="02070309020205020404" pitchFamily="49" charset="0"/>
              </a:rPr>
              <a:t>) AS </a:t>
            </a:r>
            <a:r>
              <a:rPr lang="en-US" sz="1600" dirty="0" err="1">
                <a:latin typeface="Courier New" panose="02070309020205020404" pitchFamily="49" charset="0"/>
                <a:cs typeface="Courier New" panose="02070309020205020404" pitchFamily="49" charset="0"/>
              </a:rPr>
              <a:t>MonthlyData</a:t>
            </a:r>
            <a:r>
              <a:rPr lang="en-US" sz="1600" dirty="0">
                <a:latin typeface="Courier New" panose="02070309020205020404" pitchFamily="49" charset="0"/>
                <a:cs typeface="Courier New" panose="02070309020205020404" pitchFamily="49" charset="0"/>
              </a:rPr>
              <a:t>) AS </a:t>
            </a:r>
            <a:r>
              <a:rPr lang="en-US" sz="1600" dirty="0" err="1">
                <a:latin typeface="Courier New" panose="02070309020205020404" pitchFamily="49" charset="0"/>
                <a:cs typeface="Courier New" panose="02070309020205020404" pitchFamily="49" charset="0"/>
              </a:rPr>
              <a:t>GrowthResultsWHERE</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PrevMonthSales</a:t>
            </a:r>
            <a:r>
              <a:rPr lang="en-US" sz="1600" dirty="0">
                <a:latin typeface="Courier New" panose="02070309020205020404" pitchFamily="49" charset="0"/>
                <a:cs typeface="Courier New" panose="02070309020205020404" pitchFamily="49" charset="0"/>
              </a:rPr>
              <a:t> IS NOT NULLGROUP BY </a:t>
            </a:r>
            <a:r>
              <a:rPr lang="en-US" sz="1600" dirty="0" err="1">
                <a:latin typeface="Courier New" panose="02070309020205020404" pitchFamily="49" charset="0"/>
                <a:cs typeface="Courier New" panose="02070309020205020404" pitchFamily="49" charset="0"/>
              </a:rPr>
              <a:t>BranchORDER</a:t>
            </a:r>
            <a:r>
              <a:rPr lang="en-US" sz="1600" dirty="0">
                <a:latin typeface="Courier New" panose="02070309020205020404" pitchFamily="49" charset="0"/>
                <a:cs typeface="Courier New" panose="02070309020205020404" pitchFamily="49" charset="0"/>
              </a:rPr>
              <a:t> BY </a:t>
            </a:r>
            <a:r>
              <a:rPr lang="en-US" sz="1600" dirty="0" err="1">
                <a:latin typeface="Courier New" panose="02070309020205020404" pitchFamily="49" charset="0"/>
                <a:cs typeface="Courier New" panose="02070309020205020404" pitchFamily="49" charset="0"/>
              </a:rPr>
              <a:t>AvgGrowthRate</a:t>
            </a:r>
            <a:r>
              <a:rPr lang="en-US" sz="1600" dirty="0">
                <a:latin typeface="Courier New" panose="02070309020205020404" pitchFamily="49" charset="0"/>
                <a:cs typeface="Courier New" panose="02070309020205020404" pitchFamily="49" charset="0"/>
              </a:rPr>
              <a:t> DESC;</a:t>
            </a:r>
          </a:p>
        </p:txBody>
      </p:sp>
    </p:spTree>
    <p:extLst>
      <p:ext uri="{BB962C8B-B14F-4D97-AF65-F5344CB8AC3E}">
        <p14:creationId xmlns:p14="http://schemas.microsoft.com/office/powerpoint/2010/main" val="1750136700"/>
      </p:ext>
    </p:extLst>
  </p:cSld>
  <p:clrMapOvr>
    <a:masterClrMapping/>
  </p:clrMapOvr>
  <mc:AlternateContent xmlns:mc="http://schemas.openxmlformats.org/markup-compatibility/2006" xmlns:p14="http://schemas.microsoft.com/office/powerpoint/2010/main">
    <mc:Choice Requires="p14">
      <p:transition spd="slow" p14:dur="2000" advTm="14969"/>
    </mc:Choice>
    <mc:Fallback xmlns="">
      <p:transition spd="slow" advTm="1496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7AFD14-3746-4BB5-864C-AD55EA38A79E}"/>
              </a:ext>
            </a:extLst>
          </p:cNvPr>
          <p:cNvPicPr>
            <a:picLocks noChangeAspect="1"/>
          </p:cNvPicPr>
          <p:nvPr/>
        </p:nvPicPr>
        <p:blipFill>
          <a:blip r:embed="rId2"/>
          <a:stretch>
            <a:fillRect/>
          </a:stretch>
        </p:blipFill>
        <p:spPr>
          <a:xfrm>
            <a:off x="6772275" y="0"/>
            <a:ext cx="2371725" cy="1304925"/>
          </a:xfrm>
          <a:prstGeom prst="rect">
            <a:avLst/>
          </a:prstGeom>
        </p:spPr>
      </p:pic>
      <p:pic>
        <p:nvPicPr>
          <p:cNvPr id="3" name="Picture 2">
            <a:extLst>
              <a:ext uri="{FF2B5EF4-FFF2-40B4-BE49-F238E27FC236}">
                <a16:creationId xmlns:a16="http://schemas.microsoft.com/office/drawing/2014/main" id="{646237AE-AFE2-431B-B3BC-161165E8792D}"/>
              </a:ext>
            </a:extLst>
          </p:cNvPr>
          <p:cNvPicPr>
            <a:picLocks noChangeAspect="1"/>
          </p:cNvPicPr>
          <p:nvPr/>
        </p:nvPicPr>
        <p:blipFill>
          <a:blip r:embed="rId3"/>
          <a:stretch>
            <a:fillRect/>
          </a:stretch>
        </p:blipFill>
        <p:spPr>
          <a:xfrm>
            <a:off x="1164492" y="781284"/>
            <a:ext cx="3240360" cy="1408852"/>
          </a:xfrm>
          <a:prstGeom prst="rect">
            <a:avLst/>
          </a:prstGeom>
        </p:spPr>
      </p:pic>
      <p:sp>
        <p:nvSpPr>
          <p:cNvPr id="4" name="TextBox 3">
            <a:extLst>
              <a:ext uri="{FF2B5EF4-FFF2-40B4-BE49-F238E27FC236}">
                <a16:creationId xmlns:a16="http://schemas.microsoft.com/office/drawing/2014/main" id="{605A8EF9-7C41-45AF-BF5B-49E228248851}"/>
              </a:ext>
            </a:extLst>
          </p:cNvPr>
          <p:cNvSpPr txBox="1"/>
          <p:nvPr/>
        </p:nvSpPr>
        <p:spPr>
          <a:xfrm>
            <a:off x="299884" y="2354895"/>
            <a:ext cx="8544232" cy="646331"/>
          </a:xfrm>
          <a:prstGeom prst="rect">
            <a:avLst/>
          </a:prstGeom>
          <a:noFill/>
        </p:spPr>
        <p:txBody>
          <a:bodyPr wrap="square" rtlCol="0">
            <a:spAutoFit/>
          </a:bodyPr>
          <a:lstStyle/>
          <a:p>
            <a:r>
              <a:rPr lang="en-US" dirty="0"/>
              <a:t>This shows that we have Calculated </a:t>
            </a:r>
            <a:r>
              <a:rPr lang="en-US" b="1" dirty="0"/>
              <a:t>average growth rate per branch</a:t>
            </a:r>
            <a:r>
              <a:rPr lang="en-US" dirty="0"/>
              <a:t> (ignoring nulls).</a:t>
            </a:r>
          </a:p>
          <a:p>
            <a:r>
              <a:rPr lang="en-US" dirty="0"/>
              <a:t>And this also Directly answers: </a:t>
            </a:r>
            <a:r>
              <a:rPr lang="en-US" b="1" dirty="0"/>
              <a:t>Which branch showed the best overall sales growth</a:t>
            </a:r>
            <a:r>
              <a:rPr lang="en-US" i="1" dirty="0"/>
              <a:t>.</a:t>
            </a:r>
            <a:endParaRPr lang="en-US" dirty="0"/>
          </a:p>
        </p:txBody>
      </p:sp>
      <p:graphicFrame>
        <p:nvGraphicFramePr>
          <p:cNvPr id="10" name="Chart 9">
            <a:extLst>
              <a:ext uri="{FF2B5EF4-FFF2-40B4-BE49-F238E27FC236}">
                <a16:creationId xmlns:a16="http://schemas.microsoft.com/office/drawing/2014/main" id="{6A28D51E-7150-40D4-9CB6-282AE7FDE8C7}"/>
              </a:ext>
            </a:extLst>
          </p:cNvPr>
          <p:cNvGraphicFramePr>
            <a:graphicFrameLocks/>
          </p:cNvGraphicFramePr>
          <p:nvPr>
            <p:extLst>
              <p:ext uri="{D42A27DB-BD31-4B8C-83A1-F6EECF244321}">
                <p14:modId xmlns:p14="http://schemas.microsoft.com/office/powerpoint/2010/main" val="982654813"/>
              </p:ext>
            </p:extLst>
          </p:nvPr>
        </p:nvGraphicFramePr>
        <p:xfrm>
          <a:off x="1661652" y="3068799"/>
          <a:ext cx="5633883" cy="2954217"/>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a:extLst>
              <a:ext uri="{FF2B5EF4-FFF2-40B4-BE49-F238E27FC236}">
                <a16:creationId xmlns:a16="http://schemas.microsoft.com/office/drawing/2014/main" id="{D0469BA4-4C57-4A26-ACA3-952BCFE88F85}"/>
              </a:ext>
            </a:extLst>
          </p:cNvPr>
          <p:cNvSpPr txBox="1"/>
          <p:nvPr/>
        </p:nvSpPr>
        <p:spPr>
          <a:xfrm>
            <a:off x="511279" y="6090589"/>
            <a:ext cx="8544231" cy="646331"/>
          </a:xfrm>
          <a:prstGeom prst="rect">
            <a:avLst/>
          </a:prstGeom>
          <a:noFill/>
        </p:spPr>
        <p:txBody>
          <a:bodyPr wrap="square" rtlCol="0">
            <a:spAutoFit/>
          </a:bodyPr>
          <a:lstStyle/>
          <a:p>
            <a:r>
              <a:rPr lang="en-US" dirty="0"/>
              <a:t>INSIGHT: Branch </a:t>
            </a:r>
            <a:r>
              <a:rPr lang="en-US" b="1" dirty="0"/>
              <a:t>A</a:t>
            </a:r>
            <a:r>
              <a:rPr lang="en-US" dirty="0"/>
              <a:t> demonstrated the </a:t>
            </a:r>
            <a:r>
              <a:rPr lang="en-US" b="1" dirty="0"/>
              <a:t>highest average monthly growth</a:t>
            </a:r>
            <a:r>
              <a:rPr lang="en-US" dirty="0"/>
              <a:t>, signaling strong sales momentum.</a:t>
            </a:r>
          </a:p>
        </p:txBody>
      </p:sp>
    </p:spTree>
    <p:extLst>
      <p:ext uri="{BB962C8B-B14F-4D97-AF65-F5344CB8AC3E}">
        <p14:creationId xmlns:p14="http://schemas.microsoft.com/office/powerpoint/2010/main" val="1096056595"/>
      </p:ext>
    </p:extLst>
  </p:cSld>
  <p:clrMapOvr>
    <a:masterClrMapping/>
  </p:clrMapOvr>
  <mc:AlternateContent xmlns:mc="http://schemas.openxmlformats.org/markup-compatibility/2006" xmlns:p14="http://schemas.microsoft.com/office/powerpoint/2010/main">
    <mc:Choice Requires="p14">
      <p:transition spd="slow" p14:dur="2000" advTm="19769"/>
    </mc:Choice>
    <mc:Fallback xmlns="">
      <p:transition spd="slow" advTm="1976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6923" y="1253058"/>
            <a:ext cx="8229600" cy="914400"/>
          </a:xfrm>
          <a:prstGeom prst="rect">
            <a:avLst/>
          </a:prstGeom>
          <a:noFill/>
        </p:spPr>
        <p:txBody>
          <a:bodyPr wrap="none">
            <a:spAutoFit/>
          </a:bodyPr>
          <a:lstStyle/>
          <a:p>
            <a:pPr>
              <a:defRPr sz="2800" b="1"/>
            </a:pPr>
            <a:r>
              <a:rPr dirty="0"/>
              <a:t>Task 2: Most Profitable Product Line per Branch</a:t>
            </a:r>
          </a:p>
        </p:txBody>
      </p:sp>
      <p:sp>
        <p:nvSpPr>
          <p:cNvPr id="4" name="TextBox 3"/>
          <p:cNvSpPr txBox="1"/>
          <p:nvPr/>
        </p:nvSpPr>
        <p:spPr>
          <a:xfrm>
            <a:off x="326923" y="2002645"/>
            <a:ext cx="8384924" cy="584775"/>
          </a:xfrm>
          <a:prstGeom prst="rect">
            <a:avLst/>
          </a:prstGeom>
          <a:noFill/>
        </p:spPr>
        <p:txBody>
          <a:bodyPr wrap="none">
            <a:spAutoFit/>
          </a:bodyPr>
          <a:lstStyle/>
          <a:p>
            <a:pPr>
              <a:defRPr sz="1600"/>
            </a:pPr>
            <a:r>
              <a:rPr lang="en-US" b="1" dirty="0"/>
              <a:t>Approach: </a:t>
            </a:r>
            <a:r>
              <a:rPr b="1" dirty="0"/>
              <a:t>Grouped by Branch and Product line. Used SUM(gross income) and RANK() to get top </a:t>
            </a:r>
            <a:endParaRPr lang="en-US" b="1" dirty="0"/>
          </a:p>
          <a:p>
            <a:pPr>
              <a:defRPr sz="1600"/>
            </a:pPr>
            <a:r>
              <a:rPr b="1" dirty="0"/>
              <a:t>profitable product line per branch.</a:t>
            </a:r>
          </a:p>
        </p:txBody>
      </p:sp>
      <p:sp>
        <p:nvSpPr>
          <p:cNvPr id="5" name="TextBox 4"/>
          <p:cNvSpPr txBox="1"/>
          <p:nvPr/>
        </p:nvSpPr>
        <p:spPr>
          <a:xfrm>
            <a:off x="417872" y="2724518"/>
            <a:ext cx="7772400" cy="2246769"/>
          </a:xfrm>
          <a:prstGeom prst="rect">
            <a:avLst/>
          </a:prstGeom>
          <a:noFill/>
        </p:spPr>
        <p:txBody>
          <a:bodyPr wrap="square">
            <a:spAutoFit/>
          </a:bodyPr>
          <a:lstStyle/>
          <a:p>
            <a:pPr>
              <a:defRPr sz="1200">
                <a:solidFill>
                  <a:srgbClr val="000000"/>
                </a:solidFill>
                <a:latin typeface="Courier New"/>
              </a:defRPr>
            </a:pPr>
            <a:r>
              <a:rPr lang="en-US" sz="1400" dirty="0"/>
              <a:t>SELECT Branch, `Product line`, </a:t>
            </a:r>
            <a:r>
              <a:rPr lang="en-US" sz="1400" dirty="0" err="1"/>
              <a:t>Total_Profit</a:t>
            </a:r>
            <a:r>
              <a:rPr lang="en-US" sz="1400" dirty="0"/>
              <a:t> </a:t>
            </a:r>
          </a:p>
          <a:p>
            <a:pPr>
              <a:defRPr sz="1200">
                <a:solidFill>
                  <a:srgbClr val="000000"/>
                </a:solidFill>
                <a:latin typeface="Courier New"/>
              </a:defRPr>
            </a:pPr>
            <a:r>
              <a:rPr lang="en-US" sz="1400" dirty="0"/>
              <a:t>  FROM (SELECT Branch, `Product line`, SUM(`gross income`)</a:t>
            </a:r>
          </a:p>
          <a:p>
            <a:pPr>
              <a:defRPr sz="1200">
                <a:solidFill>
                  <a:srgbClr val="000000"/>
                </a:solidFill>
                <a:latin typeface="Courier New"/>
              </a:defRPr>
            </a:pPr>
            <a:r>
              <a:rPr lang="en-US" sz="1400" dirty="0"/>
              <a:t>  AS </a:t>
            </a:r>
            <a:r>
              <a:rPr lang="en-US" sz="1400" dirty="0" err="1"/>
              <a:t>Total_Profit</a:t>
            </a:r>
            <a:r>
              <a:rPr lang="en-US" sz="1400" dirty="0"/>
              <a:t>,</a:t>
            </a:r>
          </a:p>
          <a:p>
            <a:pPr>
              <a:defRPr sz="1200">
                <a:solidFill>
                  <a:srgbClr val="000000"/>
                </a:solidFill>
                <a:latin typeface="Courier New"/>
              </a:defRPr>
            </a:pPr>
            <a:r>
              <a:rPr lang="en-US" sz="1400" dirty="0"/>
              <a:t>RANK() OVER </a:t>
            </a:r>
          </a:p>
          <a:p>
            <a:pPr>
              <a:defRPr sz="1200">
                <a:solidFill>
                  <a:srgbClr val="000000"/>
                </a:solidFill>
                <a:latin typeface="Courier New"/>
              </a:defRPr>
            </a:pPr>
            <a:r>
              <a:rPr lang="en-US" sz="1400" dirty="0"/>
              <a:t>  (PARTITION BY Branch ORDER BY SUM(`gross income`) DESC) </a:t>
            </a:r>
          </a:p>
          <a:p>
            <a:pPr>
              <a:defRPr sz="1200">
                <a:solidFill>
                  <a:srgbClr val="000000"/>
                </a:solidFill>
                <a:latin typeface="Courier New"/>
              </a:defRPr>
            </a:pPr>
            <a:r>
              <a:rPr lang="en-US" sz="1400" dirty="0"/>
              <a:t>AS </a:t>
            </a:r>
            <a:r>
              <a:rPr lang="en-US" sz="1400" dirty="0" err="1"/>
              <a:t>Profit_Rank</a:t>
            </a:r>
            <a:endParaRPr lang="en-US" sz="1400" dirty="0"/>
          </a:p>
          <a:p>
            <a:pPr>
              <a:defRPr sz="1200">
                <a:solidFill>
                  <a:srgbClr val="000000"/>
                </a:solidFill>
                <a:latin typeface="Courier New"/>
              </a:defRPr>
            </a:pPr>
            <a:r>
              <a:rPr lang="en-US" sz="1400" dirty="0"/>
              <a:t>FROM </a:t>
            </a:r>
            <a:r>
              <a:rPr lang="en-US" sz="1400" dirty="0" err="1"/>
              <a:t>Walmartsales_Data</a:t>
            </a:r>
            <a:endParaRPr lang="en-US" sz="1400" dirty="0"/>
          </a:p>
          <a:p>
            <a:pPr>
              <a:defRPr sz="1200">
                <a:solidFill>
                  <a:srgbClr val="000000"/>
                </a:solidFill>
                <a:latin typeface="Courier New"/>
              </a:defRPr>
            </a:pPr>
            <a:r>
              <a:rPr lang="en-US" sz="1400" dirty="0"/>
              <a:t>GROUP BY Branch, `Product line`)</a:t>
            </a:r>
          </a:p>
          <a:p>
            <a:pPr>
              <a:defRPr sz="1200">
                <a:solidFill>
                  <a:srgbClr val="000000"/>
                </a:solidFill>
                <a:latin typeface="Courier New"/>
              </a:defRPr>
            </a:pPr>
            <a:r>
              <a:rPr lang="en-US" sz="1400" dirty="0"/>
              <a:t>AS </a:t>
            </a:r>
            <a:r>
              <a:rPr lang="en-US" sz="1400" dirty="0" err="1"/>
              <a:t>Ranked_Profit</a:t>
            </a:r>
            <a:endParaRPr lang="en-US" sz="1400" dirty="0"/>
          </a:p>
          <a:p>
            <a:pPr>
              <a:defRPr sz="1200">
                <a:solidFill>
                  <a:srgbClr val="000000"/>
                </a:solidFill>
                <a:latin typeface="Courier New"/>
              </a:defRPr>
            </a:pPr>
            <a:r>
              <a:rPr lang="en-US" sz="1400" dirty="0"/>
              <a:t>Where </a:t>
            </a:r>
            <a:r>
              <a:rPr lang="en-US" sz="1400" dirty="0" err="1"/>
              <a:t>Profit_Rank</a:t>
            </a:r>
            <a:r>
              <a:rPr lang="en-US" sz="1400" dirty="0"/>
              <a:t>=1;</a:t>
            </a:r>
            <a:endParaRPr sz="1400" dirty="0"/>
          </a:p>
        </p:txBody>
      </p:sp>
      <p:pic>
        <p:nvPicPr>
          <p:cNvPr id="6" name="Picture 5">
            <a:extLst>
              <a:ext uri="{FF2B5EF4-FFF2-40B4-BE49-F238E27FC236}">
                <a16:creationId xmlns:a16="http://schemas.microsoft.com/office/drawing/2014/main" id="{A29B0C71-B060-4E78-916D-6E92A565B3C4}"/>
              </a:ext>
            </a:extLst>
          </p:cNvPr>
          <p:cNvPicPr>
            <a:picLocks noChangeAspect="1"/>
          </p:cNvPicPr>
          <p:nvPr/>
        </p:nvPicPr>
        <p:blipFill>
          <a:blip r:embed="rId2"/>
          <a:stretch>
            <a:fillRect/>
          </a:stretch>
        </p:blipFill>
        <p:spPr>
          <a:xfrm>
            <a:off x="6772275" y="0"/>
            <a:ext cx="2371725" cy="1304925"/>
          </a:xfrm>
          <a:prstGeom prst="rect">
            <a:avLst/>
          </a:prstGeom>
        </p:spPr>
      </p:pic>
      <p:pic>
        <p:nvPicPr>
          <p:cNvPr id="8" name="Picture 7">
            <a:extLst>
              <a:ext uri="{FF2B5EF4-FFF2-40B4-BE49-F238E27FC236}">
                <a16:creationId xmlns:a16="http://schemas.microsoft.com/office/drawing/2014/main" id="{3ECF672F-7655-460A-9C1C-088648A99EFB}"/>
              </a:ext>
            </a:extLst>
          </p:cNvPr>
          <p:cNvPicPr>
            <a:picLocks noChangeAspect="1"/>
          </p:cNvPicPr>
          <p:nvPr/>
        </p:nvPicPr>
        <p:blipFill>
          <a:blip r:embed="rId3"/>
          <a:stretch>
            <a:fillRect/>
          </a:stretch>
        </p:blipFill>
        <p:spPr>
          <a:xfrm>
            <a:off x="4060722" y="4690543"/>
            <a:ext cx="4871883" cy="16927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6695"/>
    </mc:Choice>
    <mc:Fallback xmlns="">
      <p:transition spd="slow" advTm="2669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6FD93C5-59D5-4968-AFE0-E91ECD71D6DE}"/>
              </a:ext>
            </a:extLst>
          </p:cNvPr>
          <p:cNvGraphicFramePr>
            <a:graphicFrameLocks noGrp="1"/>
          </p:cNvGraphicFramePr>
          <p:nvPr>
            <p:extLst>
              <p:ext uri="{D42A27DB-BD31-4B8C-83A1-F6EECF244321}">
                <p14:modId xmlns:p14="http://schemas.microsoft.com/office/powerpoint/2010/main" val="4063996584"/>
              </p:ext>
            </p:extLst>
          </p:nvPr>
        </p:nvGraphicFramePr>
        <p:xfrm>
          <a:off x="157316" y="189270"/>
          <a:ext cx="4916129" cy="2384325"/>
        </p:xfrm>
        <a:graphic>
          <a:graphicData uri="http://schemas.openxmlformats.org/drawingml/2006/table">
            <a:tbl>
              <a:tblPr>
                <a:tableStyleId>{5C22544A-7EE6-4342-B048-85BDC9FD1C3A}</a:tableStyleId>
              </a:tblPr>
              <a:tblGrid>
                <a:gridCol w="1102272">
                  <a:extLst>
                    <a:ext uri="{9D8B030D-6E8A-4147-A177-3AD203B41FA5}">
                      <a16:colId xmlns:a16="http://schemas.microsoft.com/office/drawing/2014/main" val="809464665"/>
                    </a:ext>
                  </a:extLst>
                </a:gridCol>
                <a:gridCol w="2204542">
                  <a:extLst>
                    <a:ext uri="{9D8B030D-6E8A-4147-A177-3AD203B41FA5}">
                      <a16:colId xmlns:a16="http://schemas.microsoft.com/office/drawing/2014/main" val="121737186"/>
                    </a:ext>
                  </a:extLst>
                </a:gridCol>
                <a:gridCol w="1609315">
                  <a:extLst>
                    <a:ext uri="{9D8B030D-6E8A-4147-A177-3AD203B41FA5}">
                      <a16:colId xmlns:a16="http://schemas.microsoft.com/office/drawing/2014/main" val="2772241446"/>
                    </a:ext>
                  </a:extLst>
                </a:gridCol>
              </a:tblGrid>
              <a:tr h="551835">
                <a:tc>
                  <a:txBody>
                    <a:bodyPr/>
                    <a:lstStyle/>
                    <a:p>
                      <a:pPr algn="l" fontAlgn="b"/>
                      <a:r>
                        <a:rPr lang="en-US" sz="1100" u="none" strike="noStrike">
                          <a:effectLst/>
                        </a:rPr>
                        <a:t> Branch</a:t>
                      </a:r>
                      <a:endParaRPr lang="en-US" sz="1100" b="1" i="0" u="none" strike="noStrike">
                        <a:solidFill>
                          <a:srgbClr val="FFFFFF"/>
                        </a:solidFill>
                        <a:effectLst/>
                        <a:latin typeface="Calibri" panose="020F0502020204030204" pitchFamily="34" charset="0"/>
                      </a:endParaRPr>
                    </a:p>
                  </a:txBody>
                  <a:tcPr marL="6350" marR="6350" marT="6350" marB="0" anchor="b"/>
                </a:tc>
                <a:tc>
                  <a:txBody>
                    <a:bodyPr/>
                    <a:lstStyle/>
                    <a:p>
                      <a:pPr algn="l" fontAlgn="b"/>
                      <a:r>
                        <a:rPr lang="en-US" sz="1100" u="none" strike="noStrike" dirty="0">
                          <a:effectLst/>
                        </a:rPr>
                        <a:t> Product line</a:t>
                      </a:r>
                      <a:endParaRPr lang="en-US" sz="1100" b="1"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Total_Profit</a:t>
                      </a:r>
                      <a:endParaRPr lang="en-US" sz="1100" b="1" i="0" u="none" strike="noStrike">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22176324"/>
                  </a:ext>
                </a:extLst>
              </a:tr>
              <a:tr h="610830">
                <a:tc>
                  <a:txBody>
                    <a:bodyPr/>
                    <a:lstStyle/>
                    <a:p>
                      <a:pPr algn="l" fontAlgn="b"/>
                      <a:r>
                        <a:rPr lang="en-US" sz="1100" u="none" strike="noStrike">
                          <a:effectLst/>
                        </a:rPr>
                        <a:t>A</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dirty="0">
                          <a:effectLst/>
                        </a:rPr>
                        <a:t> Home and lifestyle</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1067.4855</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88489476"/>
                  </a:ext>
                </a:extLst>
              </a:tr>
              <a:tr h="610830">
                <a:tc>
                  <a:txBody>
                    <a:bodyPr/>
                    <a:lstStyle/>
                    <a:p>
                      <a:pPr algn="l" fontAlgn="b"/>
                      <a:r>
                        <a:rPr lang="en-US" sz="1100" u="none" strike="noStrike">
                          <a:effectLst/>
                        </a:rPr>
                        <a:t>B</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Sports and travel</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dirty="0">
                          <a:effectLst/>
                        </a:rPr>
                        <a:t>951.819</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496400562"/>
                  </a:ext>
                </a:extLst>
              </a:tr>
              <a:tr h="610830">
                <a:tc>
                  <a:txBody>
                    <a:bodyPr/>
                    <a:lstStyle/>
                    <a:p>
                      <a:pPr algn="l" fontAlgn="b"/>
                      <a:r>
                        <a:rPr lang="en-US" sz="1100" u="none" strike="noStrike">
                          <a:effectLst/>
                        </a:rPr>
                        <a:t>C</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Food and beverages</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dirty="0">
                          <a:effectLst/>
                        </a:rPr>
                        <a:t>1131.755</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827848931"/>
                  </a:ext>
                </a:extLst>
              </a:tr>
            </a:tbl>
          </a:graphicData>
        </a:graphic>
      </p:graphicFrame>
      <p:pic>
        <p:nvPicPr>
          <p:cNvPr id="3" name="Picture 2">
            <a:extLst>
              <a:ext uri="{FF2B5EF4-FFF2-40B4-BE49-F238E27FC236}">
                <a16:creationId xmlns:a16="http://schemas.microsoft.com/office/drawing/2014/main" id="{6A3CAAF1-BB76-4155-8F88-B8BA182476B5}"/>
              </a:ext>
            </a:extLst>
          </p:cNvPr>
          <p:cNvPicPr>
            <a:picLocks noChangeAspect="1"/>
          </p:cNvPicPr>
          <p:nvPr/>
        </p:nvPicPr>
        <p:blipFill>
          <a:blip r:embed="rId2"/>
          <a:stretch>
            <a:fillRect/>
          </a:stretch>
        </p:blipFill>
        <p:spPr>
          <a:xfrm>
            <a:off x="6693617" y="0"/>
            <a:ext cx="2371725" cy="1304925"/>
          </a:xfrm>
          <a:prstGeom prst="rect">
            <a:avLst/>
          </a:prstGeom>
        </p:spPr>
      </p:pic>
      <p:graphicFrame>
        <p:nvGraphicFramePr>
          <p:cNvPr id="4" name="Chart 3">
            <a:extLst>
              <a:ext uri="{FF2B5EF4-FFF2-40B4-BE49-F238E27FC236}">
                <a16:creationId xmlns:a16="http://schemas.microsoft.com/office/drawing/2014/main" id="{B032C49E-749F-4564-814A-AF1CF55215DB}"/>
              </a:ext>
            </a:extLst>
          </p:cNvPr>
          <p:cNvGraphicFramePr>
            <a:graphicFrameLocks/>
          </p:cNvGraphicFramePr>
          <p:nvPr>
            <p:extLst>
              <p:ext uri="{D42A27DB-BD31-4B8C-83A1-F6EECF244321}">
                <p14:modId xmlns:p14="http://schemas.microsoft.com/office/powerpoint/2010/main" val="2777266156"/>
              </p:ext>
            </p:extLst>
          </p:nvPr>
        </p:nvGraphicFramePr>
        <p:xfrm>
          <a:off x="3805084" y="3129118"/>
          <a:ext cx="5260258" cy="3728882"/>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6EDF3837-2E32-4903-BE34-2C8522D30CFF}"/>
              </a:ext>
            </a:extLst>
          </p:cNvPr>
          <p:cNvSpPr txBox="1"/>
          <p:nvPr/>
        </p:nvSpPr>
        <p:spPr>
          <a:xfrm>
            <a:off x="88490" y="4380668"/>
            <a:ext cx="3716594" cy="1200329"/>
          </a:xfrm>
          <a:prstGeom prst="rect">
            <a:avLst/>
          </a:prstGeom>
          <a:noFill/>
        </p:spPr>
        <p:txBody>
          <a:bodyPr wrap="square" rtlCol="0">
            <a:spAutoFit/>
          </a:bodyPr>
          <a:lstStyle/>
          <a:p>
            <a:r>
              <a:rPr lang="en-US" dirty="0"/>
              <a:t>This Clearly Shows that Branch C has Product Line “Food and Beverages” that has Total Highest profit of 1131.75 followed by Branch A and B.</a:t>
            </a:r>
          </a:p>
        </p:txBody>
      </p:sp>
    </p:spTree>
    <p:extLst>
      <p:ext uri="{BB962C8B-B14F-4D97-AF65-F5344CB8AC3E}">
        <p14:creationId xmlns:p14="http://schemas.microsoft.com/office/powerpoint/2010/main" val="4251434259"/>
      </p:ext>
    </p:extLst>
  </p:cSld>
  <p:clrMapOvr>
    <a:masterClrMapping/>
  </p:clrMapOvr>
  <mc:AlternateContent xmlns:mc="http://schemas.openxmlformats.org/markup-compatibility/2006" xmlns:p14="http://schemas.microsoft.com/office/powerpoint/2010/main">
    <mc:Choice Requires="p14">
      <p:transition spd="slow" p14:dur="2000" advTm="10733"/>
    </mc:Choice>
    <mc:Fallback xmlns="">
      <p:transition spd="slow" advTm="1073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2342" y="637837"/>
            <a:ext cx="8229600" cy="914400"/>
          </a:xfrm>
          <a:prstGeom prst="rect">
            <a:avLst/>
          </a:prstGeom>
          <a:noFill/>
        </p:spPr>
        <p:txBody>
          <a:bodyPr wrap="none">
            <a:spAutoFit/>
          </a:bodyPr>
          <a:lstStyle/>
          <a:p>
            <a:pPr>
              <a:defRPr sz="2800" b="1"/>
            </a:pPr>
            <a:r>
              <a:rPr dirty="0"/>
              <a:t>Task 3: Customer Segmentation</a:t>
            </a:r>
          </a:p>
        </p:txBody>
      </p:sp>
      <p:sp>
        <p:nvSpPr>
          <p:cNvPr id="4" name="TextBox 3"/>
          <p:cNvSpPr txBox="1"/>
          <p:nvPr/>
        </p:nvSpPr>
        <p:spPr>
          <a:xfrm>
            <a:off x="299884" y="1347264"/>
            <a:ext cx="8087032" cy="584775"/>
          </a:xfrm>
          <a:prstGeom prst="rect">
            <a:avLst/>
          </a:prstGeom>
          <a:noFill/>
        </p:spPr>
        <p:txBody>
          <a:bodyPr wrap="square">
            <a:spAutoFit/>
          </a:bodyPr>
          <a:lstStyle/>
          <a:p>
            <a:pPr>
              <a:defRPr sz="1600"/>
            </a:pPr>
            <a:r>
              <a:rPr lang="en-US" b="1" dirty="0"/>
              <a:t>Approach : </a:t>
            </a:r>
            <a:r>
              <a:rPr b="1" dirty="0"/>
              <a:t>Used NTILE(3) to divide customers into High, Medium, and Low spenders based on total sales.</a:t>
            </a:r>
          </a:p>
        </p:txBody>
      </p:sp>
      <p:sp>
        <p:nvSpPr>
          <p:cNvPr id="5" name="TextBox 4"/>
          <p:cNvSpPr txBox="1"/>
          <p:nvPr/>
        </p:nvSpPr>
        <p:spPr>
          <a:xfrm>
            <a:off x="302342" y="2046498"/>
            <a:ext cx="5007076" cy="3539430"/>
          </a:xfrm>
          <a:prstGeom prst="rect">
            <a:avLst/>
          </a:prstGeom>
          <a:noFill/>
        </p:spPr>
        <p:txBody>
          <a:bodyPr wrap="square">
            <a:spAutoFit/>
          </a:bodyPr>
          <a:lstStyle/>
          <a:p>
            <a:pPr>
              <a:defRPr sz="1200">
                <a:solidFill>
                  <a:srgbClr val="000000"/>
                </a:solidFill>
                <a:latin typeface="Courier New"/>
              </a:defRPr>
            </a:pPr>
            <a:r>
              <a:rPr lang="en-US" sz="1400" dirty="0"/>
              <a:t>SELECT `Customer ID`, ROUND(</a:t>
            </a:r>
            <a:r>
              <a:rPr lang="en-US" sz="1400" dirty="0" err="1"/>
              <a:t>TotalSpending</a:t>
            </a:r>
            <a:r>
              <a:rPr lang="en-US" sz="1400" dirty="0"/>
              <a:t>, 2)</a:t>
            </a:r>
          </a:p>
          <a:p>
            <a:pPr>
              <a:defRPr sz="1200">
                <a:solidFill>
                  <a:srgbClr val="000000"/>
                </a:solidFill>
                <a:latin typeface="Courier New"/>
              </a:defRPr>
            </a:pPr>
            <a:r>
              <a:rPr lang="en-US" sz="1400" dirty="0"/>
              <a:t>AS </a:t>
            </a:r>
            <a:r>
              <a:rPr lang="en-US" sz="1400" dirty="0" err="1"/>
              <a:t>TotalSpending</a:t>
            </a:r>
            <a:r>
              <a:rPr lang="en-US" sz="1400" dirty="0"/>
              <a:t>,  </a:t>
            </a:r>
          </a:p>
          <a:p>
            <a:pPr>
              <a:defRPr sz="1200">
                <a:solidFill>
                  <a:srgbClr val="000000"/>
                </a:solidFill>
                <a:latin typeface="Courier New"/>
              </a:defRPr>
            </a:pPr>
            <a:r>
              <a:rPr lang="en-US" sz="1400" dirty="0"/>
              <a:t>CASE </a:t>
            </a:r>
          </a:p>
          <a:p>
            <a:pPr>
              <a:defRPr sz="1200">
                <a:solidFill>
                  <a:srgbClr val="000000"/>
                </a:solidFill>
                <a:latin typeface="Courier New"/>
              </a:defRPr>
            </a:pPr>
            <a:r>
              <a:rPr lang="en-US" sz="1400" dirty="0"/>
              <a:t>WHEN </a:t>
            </a:r>
            <a:r>
              <a:rPr lang="en-US" sz="1400" dirty="0" err="1"/>
              <a:t>SpendingTier</a:t>
            </a:r>
            <a:r>
              <a:rPr lang="en-US" sz="1400" dirty="0"/>
              <a:t> = 1 THEN 'Low'      </a:t>
            </a:r>
          </a:p>
          <a:p>
            <a:pPr>
              <a:defRPr sz="1200">
                <a:solidFill>
                  <a:srgbClr val="000000"/>
                </a:solidFill>
                <a:latin typeface="Courier New"/>
              </a:defRPr>
            </a:pPr>
            <a:r>
              <a:rPr lang="en-US" sz="1400" dirty="0"/>
              <a:t>WHEN </a:t>
            </a:r>
            <a:r>
              <a:rPr lang="en-US" sz="1400" dirty="0" err="1"/>
              <a:t>SpendingTier</a:t>
            </a:r>
            <a:r>
              <a:rPr lang="en-US" sz="1400" dirty="0"/>
              <a:t> = 2 THEN 'Medium’ </a:t>
            </a:r>
          </a:p>
          <a:p>
            <a:pPr>
              <a:defRPr sz="1200">
                <a:solidFill>
                  <a:srgbClr val="000000"/>
                </a:solidFill>
                <a:latin typeface="Courier New"/>
              </a:defRPr>
            </a:pPr>
            <a:r>
              <a:rPr lang="en-US" sz="1400" dirty="0"/>
              <a:t>WHEN </a:t>
            </a:r>
            <a:r>
              <a:rPr lang="en-US" sz="1400" dirty="0" err="1"/>
              <a:t>SpendingTier</a:t>
            </a:r>
            <a:r>
              <a:rPr lang="en-US" sz="1400" dirty="0"/>
              <a:t> = 3 THEN 'High’  </a:t>
            </a:r>
          </a:p>
          <a:p>
            <a:pPr>
              <a:defRPr sz="1200">
                <a:solidFill>
                  <a:srgbClr val="000000"/>
                </a:solidFill>
                <a:latin typeface="Courier New"/>
              </a:defRPr>
            </a:pPr>
            <a:r>
              <a:rPr lang="en-US" sz="1400" dirty="0"/>
              <a:t>END </a:t>
            </a:r>
          </a:p>
          <a:p>
            <a:pPr>
              <a:defRPr sz="1200">
                <a:solidFill>
                  <a:srgbClr val="000000"/>
                </a:solidFill>
                <a:latin typeface="Courier New"/>
              </a:defRPr>
            </a:pPr>
            <a:r>
              <a:rPr lang="en-US" sz="1400" dirty="0"/>
              <a:t>AS </a:t>
            </a:r>
            <a:r>
              <a:rPr lang="en-US" sz="1400" dirty="0" err="1"/>
              <a:t>SpendingCategory</a:t>
            </a:r>
            <a:endParaRPr lang="en-US" sz="1400" dirty="0"/>
          </a:p>
          <a:p>
            <a:pPr>
              <a:defRPr sz="1200">
                <a:solidFill>
                  <a:srgbClr val="000000"/>
                </a:solidFill>
                <a:latin typeface="Courier New"/>
              </a:defRPr>
            </a:pPr>
            <a:r>
              <a:rPr lang="en-US" sz="1400" dirty="0"/>
              <a:t>FROM </a:t>
            </a:r>
          </a:p>
          <a:p>
            <a:pPr>
              <a:defRPr sz="1200">
                <a:solidFill>
                  <a:srgbClr val="000000"/>
                </a:solidFill>
                <a:latin typeface="Courier New"/>
              </a:defRPr>
            </a:pPr>
            <a:r>
              <a:rPr lang="en-US" sz="1400" dirty="0"/>
              <a:t>(SELECT `Customer ID`,SUM(`Total`) AS </a:t>
            </a:r>
            <a:r>
              <a:rPr lang="en-US" sz="1400" dirty="0" err="1"/>
              <a:t>TotalSpending</a:t>
            </a:r>
            <a:r>
              <a:rPr lang="en-US" sz="1400" dirty="0"/>
              <a:t>,</a:t>
            </a:r>
          </a:p>
          <a:p>
            <a:pPr>
              <a:defRPr sz="1200">
                <a:solidFill>
                  <a:srgbClr val="000000"/>
                </a:solidFill>
                <a:latin typeface="Courier New"/>
              </a:defRPr>
            </a:pPr>
            <a:r>
              <a:rPr lang="en-US" sz="1400" dirty="0"/>
              <a:t>NTILE(3) OVER (ORDER BY SUM(`Total`)) AS </a:t>
            </a:r>
            <a:r>
              <a:rPr lang="en-US" sz="1400" dirty="0" err="1"/>
              <a:t>SpendingTier</a:t>
            </a:r>
            <a:endParaRPr lang="en-US" sz="1400" dirty="0"/>
          </a:p>
          <a:p>
            <a:pPr>
              <a:defRPr sz="1200">
                <a:solidFill>
                  <a:srgbClr val="000000"/>
                </a:solidFill>
                <a:latin typeface="Courier New"/>
              </a:defRPr>
            </a:pPr>
            <a:r>
              <a:rPr lang="en-US" sz="1400" dirty="0"/>
              <a:t>FROM </a:t>
            </a:r>
            <a:r>
              <a:rPr lang="en-US" sz="1400" dirty="0" err="1"/>
              <a:t>Walmartsales_data</a:t>
            </a:r>
            <a:endParaRPr lang="en-US" sz="1400" dirty="0"/>
          </a:p>
          <a:p>
            <a:pPr>
              <a:defRPr sz="1200">
                <a:solidFill>
                  <a:srgbClr val="000000"/>
                </a:solidFill>
                <a:latin typeface="Courier New"/>
              </a:defRPr>
            </a:pPr>
            <a:r>
              <a:rPr lang="en-US" sz="1400" dirty="0"/>
              <a:t>GROUP BY `Customer ID`) AS Segmented</a:t>
            </a:r>
          </a:p>
          <a:p>
            <a:pPr>
              <a:defRPr sz="1200">
                <a:solidFill>
                  <a:srgbClr val="000000"/>
                </a:solidFill>
                <a:latin typeface="Courier New"/>
              </a:defRPr>
            </a:pPr>
            <a:r>
              <a:rPr lang="en-US" sz="1400" dirty="0"/>
              <a:t>ORDER BY </a:t>
            </a:r>
            <a:r>
              <a:rPr lang="en-US" sz="1400" dirty="0" err="1"/>
              <a:t>TotalSpending</a:t>
            </a:r>
            <a:r>
              <a:rPr lang="en-US" sz="1400" dirty="0"/>
              <a:t> DESC;</a:t>
            </a:r>
            <a:endParaRPr sz="1400" dirty="0"/>
          </a:p>
        </p:txBody>
      </p:sp>
      <p:pic>
        <p:nvPicPr>
          <p:cNvPr id="6" name="Picture 5">
            <a:extLst>
              <a:ext uri="{FF2B5EF4-FFF2-40B4-BE49-F238E27FC236}">
                <a16:creationId xmlns:a16="http://schemas.microsoft.com/office/drawing/2014/main" id="{D3CF72F2-51BE-4B6E-BD78-8B5ACC3581AC}"/>
              </a:ext>
            </a:extLst>
          </p:cNvPr>
          <p:cNvPicPr>
            <a:picLocks noChangeAspect="1"/>
          </p:cNvPicPr>
          <p:nvPr/>
        </p:nvPicPr>
        <p:blipFill>
          <a:blip r:embed="rId2"/>
          <a:stretch>
            <a:fillRect/>
          </a:stretch>
        </p:blipFill>
        <p:spPr>
          <a:xfrm>
            <a:off x="6772275" y="4017"/>
            <a:ext cx="2371725" cy="1304925"/>
          </a:xfrm>
          <a:prstGeom prst="rect">
            <a:avLst/>
          </a:prstGeom>
        </p:spPr>
      </p:pic>
      <p:pic>
        <p:nvPicPr>
          <p:cNvPr id="7" name="Picture 6">
            <a:extLst>
              <a:ext uri="{FF2B5EF4-FFF2-40B4-BE49-F238E27FC236}">
                <a16:creationId xmlns:a16="http://schemas.microsoft.com/office/drawing/2014/main" id="{B8923163-AE9E-4A2A-8B5E-C20B9BAED059}"/>
              </a:ext>
            </a:extLst>
          </p:cNvPr>
          <p:cNvPicPr>
            <a:picLocks noChangeAspect="1"/>
          </p:cNvPicPr>
          <p:nvPr/>
        </p:nvPicPr>
        <p:blipFill>
          <a:blip r:embed="rId3"/>
          <a:stretch>
            <a:fillRect/>
          </a:stretch>
        </p:blipFill>
        <p:spPr>
          <a:xfrm>
            <a:off x="5548773" y="2086834"/>
            <a:ext cx="3595227" cy="33316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0589"/>
    </mc:Choice>
    <mc:Fallback xmlns="">
      <p:transition spd="slow" advTm="2058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4C944C5-3217-4701-964E-32D1767E7F8C}"/>
              </a:ext>
            </a:extLst>
          </p:cNvPr>
          <p:cNvPicPr>
            <a:picLocks noChangeAspect="1"/>
          </p:cNvPicPr>
          <p:nvPr/>
        </p:nvPicPr>
        <p:blipFill>
          <a:blip r:embed="rId2"/>
          <a:stretch>
            <a:fillRect/>
          </a:stretch>
        </p:blipFill>
        <p:spPr>
          <a:xfrm>
            <a:off x="6772275" y="0"/>
            <a:ext cx="2371725" cy="1304925"/>
          </a:xfrm>
          <a:prstGeom prst="rect">
            <a:avLst/>
          </a:prstGeom>
        </p:spPr>
      </p:pic>
      <p:graphicFrame>
        <p:nvGraphicFramePr>
          <p:cNvPr id="3" name="Table 2">
            <a:extLst>
              <a:ext uri="{FF2B5EF4-FFF2-40B4-BE49-F238E27FC236}">
                <a16:creationId xmlns:a16="http://schemas.microsoft.com/office/drawing/2014/main" id="{22A08E1F-623F-4DB0-B305-028FB3F8F702}"/>
              </a:ext>
            </a:extLst>
          </p:cNvPr>
          <p:cNvGraphicFramePr>
            <a:graphicFrameLocks noGrp="1"/>
          </p:cNvGraphicFramePr>
          <p:nvPr>
            <p:extLst>
              <p:ext uri="{D42A27DB-BD31-4B8C-83A1-F6EECF244321}">
                <p14:modId xmlns:p14="http://schemas.microsoft.com/office/powerpoint/2010/main" val="1629839852"/>
              </p:ext>
            </p:extLst>
          </p:nvPr>
        </p:nvGraphicFramePr>
        <p:xfrm>
          <a:off x="347814" y="215490"/>
          <a:ext cx="4076701" cy="3194832"/>
        </p:xfrm>
        <a:graphic>
          <a:graphicData uri="http://schemas.openxmlformats.org/drawingml/2006/table">
            <a:tbl>
              <a:tblPr>
                <a:tableStyleId>{5C22544A-7EE6-4342-B048-85BDC9FD1C3A}</a:tableStyleId>
              </a:tblPr>
              <a:tblGrid>
                <a:gridCol w="1153485">
                  <a:extLst>
                    <a:ext uri="{9D8B030D-6E8A-4147-A177-3AD203B41FA5}">
                      <a16:colId xmlns:a16="http://schemas.microsoft.com/office/drawing/2014/main" val="3691604907"/>
                    </a:ext>
                  </a:extLst>
                </a:gridCol>
                <a:gridCol w="1327298">
                  <a:extLst>
                    <a:ext uri="{9D8B030D-6E8A-4147-A177-3AD203B41FA5}">
                      <a16:colId xmlns:a16="http://schemas.microsoft.com/office/drawing/2014/main" val="1602393583"/>
                    </a:ext>
                  </a:extLst>
                </a:gridCol>
                <a:gridCol w="1595918">
                  <a:extLst>
                    <a:ext uri="{9D8B030D-6E8A-4147-A177-3AD203B41FA5}">
                      <a16:colId xmlns:a16="http://schemas.microsoft.com/office/drawing/2014/main" val="1766705491"/>
                    </a:ext>
                  </a:extLst>
                </a:gridCol>
              </a:tblGrid>
              <a:tr h="199677">
                <a:tc>
                  <a:txBody>
                    <a:bodyPr/>
                    <a:lstStyle/>
                    <a:p>
                      <a:pPr algn="l" fontAlgn="b"/>
                      <a:r>
                        <a:rPr lang="en-US" sz="1100" u="none" strike="noStrike">
                          <a:effectLst/>
                        </a:rPr>
                        <a:t>Customer ID</a:t>
                      </a:r>
                      <a:endParaRPr lang="en-US" sz="1100" b="1"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TotalSpending</a:t>
                      </a:r>
                      <a:endParaRPr lang="en-US" sz="1100" b="1"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SpendingCategory</a:t>
                      </a:r>
                      <a:endParaRPr lang="en-US" sz="1100" b="1"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466429168"/>
                  </a:ext>
                </a:extLst>
              </a:tr>
              <a:tr h="199677">
                <a:tc>
                  <a:txBody>
                    <a:bodyPr/>
                    <a:lstStyle/>
                    <a:p>
                      <a:pPr algn="r" fontAlgn="b"/>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26634.34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High</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380535410"/>
                  </a:ext>
                </a:extLst>
              </a:tr>
              <a:tr h="199677">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23402.26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High</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783810547"/>
                  </a:ext>
                </a:extLst>
              </a:tr>
              <a:tr h="199677">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23392.28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High</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97189268"/>
                  </a:ext>
                </a:extLst>
              </a:tr>
              <a:tr h="199677">
                <a:tc>
                  <a:txBody>
                    <a:bodyPr/>
                    <a:lstStyle/>
                    <a:p>
                      <a:pPr algn="r" fontAlgn="b"/>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22674.46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High</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858023212"/>
                  </a:ext>
                </a:extLst>
              </a:tr>
              <a:tr h="199677">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22634.55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High</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12523315"/>
                  </a:ext>
                </a:extLst>
              </a:tr>
              <a:tr h="199677">
                <a:tc>
                  <a:txBody>
                    <a:bodyPr/>
                    <a:lstStyle/>
                    <a:p>
                      <a:pPr algn="r" fontAlgn="b"/>
                      <a:r>
                        <a:rPr lang="en-US" sz="1100" u="none" strike="noStrike">
                          <a:effectLst/>
                        </a:rPr>
                        <a:t>12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21720.65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Medium</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96638411"/>
                  </a:ext>
                </a:extLst>
              </a:tr>
              <a:tr h="199677">
                <a:tc>
                  <a:txBody>
                    <a:bodyPr/>
                    <a:lstStyle/>
                    <a:p>
                      <a:pPr algn="r" fontAlgn="b"/>
                      <a:r>
                        <a:rPr lang="en-US" sz="1100" u="none" strike="noStrike">
                          <a:effectLst/>
                        </a:rPr>
                        <a:t>11</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21398.82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Medium</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130560165"/>
                  </a:ext>
                </a:extLst>
              </a:tr>
              <a:tr h="199677">
                <a:tc>
                  <a:txBody>
                    <a:bodyPr/>
                    <a:lstStyle/>
                    <a:p>
                      <a:pPr algn="r" fontAlgn="b"/>
                      <a:r>
                        <a:rPr lang="en-US" sz="1100" u="none" strike="noStrike">
                          <a:effectLst/>
                        </a:rPr>
                        <a:t>13</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21063.66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Medium</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558844463"/>
                  </a:ext>
                </a:extLst>
              </a:tr>
              <a:tr h="199677">
                <a:tc>
                  <a:txBody>
                    <a:bodyPr/>
                    <a:lstStyle/>
                    <a:p>
                      <a:pPr algn="r" fontAlgn="b"/>
                      <a:r>
                        <a:rPr lang="en-US" sz="1100" u="none" strike="noStrike">
                          <a:effectLst/>
                        </a:rPr>
                        <a:t>14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21049.4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Medium</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454270343"/>
                  </a:ext>
                </a:extLst>
              </a:tr>
              <a:tr h="199677">
                <a:tc>
                  <a:txBody>
                    <a:bodyPr/>
                    <a:lstStyle/>
                    <a:p>
                      <a:pPr algn="r" fontAlgn="b"/>
                      <a:r>
                        <a:rPr lang="en-US" sz="1100" u="none" strike="noStrike">
                          <a:effectLst/>
                        </a:rPr>
                        <a:t>10</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20723.93</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Medium</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528671675"/>
                  </a:ext>
                </a:extLst>
              </a:tr>
              <a:tr h="199677">
                <a:tc>
                  <a:txBody>
                    <a:bodyPr/>
                    <a:lstStyle/>
                    <a:p>
                      <a:pPr algn="r" fontAlgn="b"/>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20693.96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Low</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24636392"/>
                  </a:ext>
                </a:extLst>
              </a:tr>
              <a:tr h="199677">
                <a:tc>
                  <a:txBody>
                    <a:bodyPr/>
                    <a:lstStyle/>
                    <a:p>
                      <a:pPr algn="r" fontAlgn="b"/>
                      <a:r>
                        <a:rPr lang="en-US" sz="1100" u="none" strike="noStrike">
                          <a:effectLst/>
                        </a:rPr>
                        <a:t>7</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20628.09</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Low</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13371277"/>
                  </a:ext>
                </a:extLst>
              </a:tr>
              <a:tr h="199677">
                <a:tc>
                  <a:txBody>
                    <a:bodyPr/>
                    <a:lstStyle/>
                    <a:p>
                      <a:pPr algn="r" fontAlgn="b"/>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19661.6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Low</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479763995"/>
                  </a:ext>
                </a:extLst>
              </a:tr>
              <a:tr h="199677">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19632.04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Low</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35586534"/>
                  </a:ext>
                </a:extLst>
              </a:tr>
              <a:tr h="199677">
                <a:tc>
                  <a:txBody>
                    <a:bodyPr/>
                    <a:lstStyle/>
                    <a:p>
                      <a:pPr algn="r" fontAlgn="b"/>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17656.72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dirty="0">
                          <a:effectLst/>
                        </a:rPr>
                        <a:t> Low</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984765148"/>
                  </a:ext>
                </a:extLst>
              </a:tr>
            </a:tbl>
          </a:graphicData>
        </a:graphic>
      </p:graphicFrame>
      <p:sp>
        <p:nvSpPr>
          <p:cNvPr id="4" name="TextBox 3">
            <a:extLst>
              <a:ext uri="{FF2B5EF4-FFF2-40B4-BE49-F238E27FC236}">
                <a16:creationId xmlns:a16="http://schemas.microsoft.com/office/drawing/2014/main" id="{BF427BE8-8A4B-4A5A-9AFC-E847D2D56AC6}"/>
              </a:ext>
            </a:extLst>
          </p:cNvPr>
          <p:cNvSpPr txBox="1"/>
          <p:nvPr/>
        </p:nvSpPr>
        <p:spPr>
          <a:xfrm>
            <a:off x="4424517" y="959615"/>
            <a:ext cx="4371669" cy="646331"/>
          </a:xfrm>
          <a:prstGeom prst="rect">
            <a:avLst/>
          </a:prstGeom>
          <a:noFill/>
        </p:spPr>
        <p:txBody>
          <a:bodyPr wrap="square" rtlCol="0">
            <a:spAutoFit/>
          </a:bodyPr>
          <a:lstStyle/>
          <a:p>
            <a:r>
              <a:rPr lang="en-US" dirty="0"/>
              <a:t>This Shows the total Spending and their Spending category.</a:t>
            </a:r>
          </a:p>
        </p:txBody>
      </p:sp>
      <p:graphicFrame>
        <p:nvGraphicFramePr>
          <p:cNvPr id="5" name="Table 4">
            <a:extLst>
              <a:ext uri="{FF2B5EF4-FFF2-40B4-BE49-F238E27FC236}">
                <a16:creationId xmlns:a16="http://schemas.microsoft.com/office/drawing/2014/main" id="{2F43DA97-227A-4FAC-A843-B4D61FA6A639}"/>
              </a:ext>
            </a:extLst>
          </p:cNvPr>
          <p:cNvGraphicFramePr>
            <a:graphicFrameLocks noGrp="1"/>
          </p:cNvGraphicFramePr>
          <p:nvPr>
            <p:extLst>
              <p:ext uri="{D42A27DB-BD31-4B8C-83A1-F6EECF244321}">
                <p14:modId xmlns:p14="http://schemas.microsoft.com/office/powerpoint/2010/main" val="205800759"/>
              </p:ext>
            </p:extLst>
          </p:nvPr>
        </p:nvGraphicFramePr>
        <p:xfrm>
          <a:off x="504004" y="3696110"/>
          <a:ext cx="3920511" cy="2036095"/>
        </p:xfrm>
        <a:graphic>
          <a:graphicData uri="http://schemas.openxmlformats.org/drawingml/2006/table">
            <a:tbl>
              <a:tblPr>
                <a:tableStyleId>{5C22544A-7EE6-4342-B048-85BDC9FD1C3A}</a:tableStyleId>
              </a:tblPr>
              <a:tblGrid>
                <a:gridCol w="1951139">
                  <a:extLst>
                    <a:ext uri="{9D8B030D-6E8A-4147-A177-3AD203B41FA5}">
                      <a16:colId xmlns:a16="http://schemas.microsoft.com/office/drawing/2014/main" val="3846807173"/>
                    </a:ext>
                  </a:extLst>
                </a:gridCol>
                <a:gridCol w="1969372">
                  <a:extLst>
                    <a:ext uri="{9D8B030D-6E8A-4147-A177-3AD203B41FA5}">
                      <a16:colId xmlns:a16="http://schemas.microsoft.com/office/drawing/2014/main" val="54113691"/>
                    </a:ext>
                  </a:extLst>
                </a:gridCol>
              </a:tblGrid>
              <a:tr h="407219">
                <a:tc>
                  <a:txBody>
                    <a:bodyPr/>
                    <a:lstStyle/>
                    <a:p>
                      <a:pPr algn="l" fontAlgn="b"/>
                      <a:r>
                        <a:rPr lang="en-US" sz="1100" u="none" strike="noStrike">
                          <a:effectLst/>
                        </a:rPr>
                        <a:t>Customer Category</a:t>
                      </a:r>
                      <a:endParaRPr lang="en-US" sz="1100" b="1"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Sum of  TotalSpending</a:t>
                      </a:r>
                      <a:endParaRPr lang="en-US" sz="1100" b="1"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14763576"/>
                  </a:ext>
                </a:extLst>
              </a:tr>
              <a:tr h="407219">
                <a:tc>
                  <a:txBody>
                    <a:bodyPr/>
                    <a:lstStyle/>
                    <a:p>
                      <a:pPr algn="l" fontAlgn="b"/>
                      <a:r>
                        <a:rPr lang="en-US" sz="1100" u="none" strike="noStrike">
                          <a:effectLst/>
                        </a:rPr>
                        <a:t> High</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118737.89</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72006458"/>
                  </a:ext>
                </a:extLst>
              </a:tr>
              <a:tr h="407219">
                <a:tc>
                  <a:txBody>
                    <a:bodyPr/>
                    <a:lstStyle/>
                    <a:p>
                      <a:pPr algn="l" fontAlgn="b"/>
                      <a:r>
                        <a:rPr lang="en-US" sz="1100" u="none" strike="noStrike">
                          <a:effectLst/>
                        </a:rPr>
                        <a:t> Low</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98272.41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102376868"/>
                  </a:ext>
                </a:extLst>
              </a:tr>
              <a:tr h="407219">
                <a:tc>
                  <a:txBody>
                    <a:bodyPr/>
                    <a:lstStyle/>
                    <a:p>
                      <a:pPr algn="l" fontAlgn="b"/>
                      <a:r>
                        <a:rPr lang="en-US" sz="1100" u="none" strike="noStrike">
                          <a:effectLst/>
                        </a:rPr>
                        <a:t> Medium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dirty="0">
                          <a:effectLst/>
                        </a:rPr>
                        <a:t>105956.46</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960255347"/>
                  </a:ext>
                </a:extLst>
              </a:tr>
              <a:tr h="407219">
                <a:tc>
                  <a:txBody>
                    <a:bodyPr/>
                    <a:lstStyle/>
                    <a:p>
                      <a:pPr algn="l" fontAlgn="b"/>
                      <a:r>
                        <a:rPr lang="en-US" sz="1100" u="none" strike="noStrike">
                          <a:effectLst/>
                        </a:rPr>
                        <a:t>Grand Total</a:t>
                      </a:r>
                      <a:endParaRPr lang="en-US" sz="1100" b="1"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dirty="0">
                          <a:effectLst/>
                        </a:rPr>
                        <a:t>322966.76</a:t>
                      </a:r>
                      <a:endParaRPr lang="en-US" sz="11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66969089"/>
                  </a:ext>
                </a:extLst>
              </a:tr>
            </a:tbl>
          </a:graphicData>
        </a:graphic>
      </p:graphicFrame>
      <p:sp>
        <p:nvSpPr>
          <p:cNvPr id="6" name="TextBox 5">
            <a:extLst>
              <a:ext uri="{FF2B5EF4-FFF2-40B4-BE49-F238E27FC236}">
                <a16:creationId xmlns:a16="http://schemas.microsoft.com/office/drawing/2014/main" id="{667D0966-F04A-484D-ADAF-F93C223B877C}"/>
              </a:ext>
            </a:extLst>
          </p:cNvPr>
          <p:cNvSpPr txBox="1"/>
          <p:nvPr/>
        </p:nvSpPr>
        <p:spPr>
          <a:xfrm>
            <a:off x="405533" y="5833327"/>
            <a:ext cx="8697861" cy="923330"/>
          </a:xfrm>
          <a:prstGeom prst="rect">
            <a:avLst/>
          </a:prstGeom>
          <a:noFill/>
        </p:spPr>
        <p:txBody>
          <a:bodyPr wrap="square" rtlCol="0">
            <a:spAutoFit/>
          </a:bodyPr>
          <a:lstStyle/>
          <a:p>
            <a:r>
              <a:rPr lang="en-US" b="1" dirty="0"/>
              <a:t>Insights and Suggestions: </a:t>
            </a:r>
            <a:r>
              <a:rPr lang="en-US" dirty="0"/>
              <a:t>Customer category </a:t>
            </a:r>
            <a:r>
              <a:rPr lang="en-US" b="1" dirty="0"/>
              <a:t>‘High’ </a:t>
            </a:r>
            <a:r>
              <a:rPr lang="en-US" dirty="0"/>
              <a:t>have more total spending followed by Medium and Low.</a:t>
            </a:r>
          </a:p>
          <a:p>
            <a:r>
              <a:rPr lang="en-US" dirty="0"/>
              <a:t>This allows </a:t>
            </a:r>
            <a:r>
              <a:rPr lang="en-US" b="1" dirty="0"/>
              <a:t>targeted promotions</a:t>
            </a:r>
            <a:r>
              <a:rPr lang="en-US" dirty="0"/>
              <a:t> and </a:t>
            </a:r>
            <a:r>
              <a:rPr lang="en-US" b="1" dirty="0"/>
              <a:t>personalized campaigns</a:t>
            </a:r>
            <a:r>
              <a:rPr lang="en-US" dirty="0"/>
              <a:t>.</a:t>
            </a:r>
          </a:p>
        </p:txBody>
      </p:sp>
      <p:graphicFrame>
        <p:nvGraphicFramePr>
          <p:cNvPr id="7" name="Chart 6">
            <a:extLst>
              <a:ext uri="{FF2B5EF4-FFF2-40B4-BE49-F238E27FC236}">
                <a16:creationId xmlns:a16="http://schemas.microsoft.com/office/drawing/2014/main" id="{2747D01F-8BCD-4A94-9E2E-53CC9C88B18E}"/>
              </a:ext>
            </a:extLst>
          </p:cNvPr>
          <p:cNvGraphicFramePr>
            <a:graphicFrameLocks/>
          </p:cNvGraphicFramePr>
          <p:nvPr>
            <p:extLst>
              <p:ext uri="{D42A27DB-BD31-4B8C-83A1-F6EECF244321}">
                <p14:modId xmlns:p14="http://schemas.microsoft.com/office/powerpoint/2010/main" val="950188378"/>
              </p:ext>
            </p:extLst>
          </p:nvPr>
        </p:nvGraphicFramePr>
        <p:xfrm>
          <a:off x="4754464" y="1606464"/>
          <a:ext cx="4215629" cy="329456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42549391"/>
      </p:ext>
    </p:extLst>
  </p:cSld>
  <p:clrMapOvr>
    <a:masterClrMapping/>
  </p:clrMapOvr>
  <mc:AlternateContent xmlns:mc="http://schemas.openxmlformats.org/markup-compatibility/2006" xmlns:p14="http://schemas.microsoft.com/office/powerpoint/2010/main">
    <mc:Choice Requires="p14">
      <p:transition spd="slow" p14:dur="2000" advTm="15194"/>
    </mc:Choice>
    <mc:Fallback xmlns="">
      <p:transition spd="slow" advTm="1519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31E270-EA3E-42DE-AC17-E4AB68D20DEC}"/>
              </a:ext>
            </a:extLst>
          </p:cNvPr>
          <p:cNvPicPr>
            <a:picLocks noChangeAspect="1"/>
          </p:cNvPicPr>
          <p:nvPr/>
        </p:nvPicPr>
        <p:blipFill>
          <a:blip r:embed="rId2"/>
          <a:stretch>
            <a:fillRect/>
          </a:stretch>
        </p:blipFill>
        <p:spPr>
          <a:xfrm>
            <a:off x="6772275" y="0"/>
            <a:ext cx="2371725" cy="1304925"/>
          </a:xfrm>
          <a:prstGeom prst="rect">
            <a:avLst/>
          </a:prstGeom>
        </p:spPr>
      </p:pic>
      <p:sp>
        <p:nvSpPr>
          <p:cNvPr id="3" name="Rectangle 2">
            <a:extLst>
              <a:ext uri="{FF2B5EF4-FFF2-40B4-BE49-F238E27FC236}">
                <a16:creationId xmlns:a16="http://schemas.microsoft.com/office/drawing/2014/main" id="{85E44E6E-0FCE-4B74-A9F3-A670A08B2ACA}"/>
              </a:ext>
            </a:extLst>
          </p:cNvPr>
          <p:cNvSpPr/>
          <p:nvPr/>
        </p:nvSpPr>
        <p:spPr>
          <a:xfrm>
            <a:off x="269311" y="865241"/>
            <a:ext cx="7688826" cy="523220"/>
          </a:xfrm>
          <a:prstGeom prst="rect">
            <a:avLst/>
          </a:prstGeom>
        </p:spPr>
        <p:txBody>
          <a:bodyPr wrap="square">
            <a:spAutoFit/>
          </a:bodyPr>
          <a:lstStyle/>
          <a:p>
            <a:pPr>
              <a:defRPr sz="2800" b="1"/>
            </a:pPr>
            <a:r>
              <a:rPr lang="en-US" dirty="0"/>
              <a:t>Task 4: Detecting Anomalies in Sales Transactions</a:t>
            </a:r>
          </a:p>
        </p:txBody>
      </p:sp>
      <p:sp>
        <p:nvSpPr>
          <p:cNvPr id="4" name="TextBox 3">
            <a:extLst>
              <a:ext uri="{FF2B5EF4-FFF2-40B4-BE49-F238E27FC236}">
                <a16:creationId xmlns:a16="http://schemas.microsoft.com/office/drawing/2014/main" id="{FD38B574-933A-41F8-91E9-1CD858B53DD0}"/>
              </a:ext>
            </a:extLst>
          </p:cNvPr>
          <p:cNvSpPr txBox="1"/>
          <p:nvPr/>
        </p:nvSpPr>
        <p:spPr>
          <a:xfrm>
            <a:off x="269311" y="1553497"/>
            <a:ext cx="8550224" cy="1200329"/>
          </a:xfrm>
          <a:prstGeom prst="rect">
            <a:avLst/>
          </a:prstGeom>
          <a:noFill/>
        </p:spPr>
        <p:txBody>
          <a:bodyPr wrap="square" rtlCol="0">
            <a:spAutoFit/>
          </a:bodyPr>
          <a:lstStyle/>
          <a:p>
            <a:r>
              <a:rPr lang="en-US" b="1" dirty="0"/>
              <a:t>Approach: Used self join operation to compare each transaction's Total to its product line’s average.</a:t>
            </a:r>
          </a:p>
          <a:p>
            <a:r>
              <a:rPr lang="en-US" b="1" dirty="0"/>
              <a:t>Also defines anomalies as: </a:t>
            </a:r>
          </a:p>
          <a:p>
            <a:r>
              <a:rPr lang="en-US" b="1" dirty="0"/>
              <a:t>Transactions with Total &gt; 150% of average or Total &lt; 50% of average.</a:t>
            </a:r>
          </a:p>
        </p:txBody>
      </p:sp>
      <p:sp>
        <p:nvSpPr>
          <p:cNvPr id="5" name="TextBox 4">
            <a:extLst>
              <a:ext uri="{FF2B5EF4-FFF2-40B4-BE49-F238E27FC236}">
                <a16:creationId xmlns:a16="http://schemas.microsoft.com/office/drawing/2014/main" id="{EC92DBC7-AADE-459D-930D-2F26FCCD772B}"/>
              </a:ext>
            </a:extLst>
          </p:cNvPr>
          <p:cNvSpPr txBox="1"/>
          <p:nvPr/>
        </p:nvSpPr>
        <p:spPr>
          <a:xfrm>
            <a:off x="269311" y="3061392"/>
            <a:ext cx="8445909" cy="2677656"/>
          </a:xfrm>
          <a:prstGeom prst="rect">
            <a:avLst/>
          </a:prstGeom>
          <a:noFill/>
        </p:spPr>
        <p:txBody>
          <a:bodyPr wrap="square" rtlCol="0">
            <a:spAutoFit/>
          </a:bodyPr>
          <a:lstStyle/>
          <a:p>
            <a:r>
              <a:rPr lang="en-US" sz="1400" dirty="0">
                <a:latin typeface="Courier New" panose="02070309020205020404" pitchFamily="49" charset="0"/>
                <a:cs typeface="Courier New" panose="02070309020205020404" pitchFamily="49" charset="0"/>
              </a:rPr>
              <a:t>SELECT </a:t>
            </a:r>
            <a:r>
              <a:rPr lang="en-US" sz="1400" dirty="0" err="1">
                <a:latin typeface="Courier New" panose="02070309020205020404" pitchFamily="49" charset="0"/>
                <a:cs typeface="Courier New" panose="02070309020205020404" pitchFamily="49" charset="0"/>
              </a:rPr>
              <a:t>w.`Invoice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ID`,w.`Product</a:t>
            </a:r>
            <a:r>
              <a:rPr lang="en-US" sz="1400" dirty="0">
                <a:latin typeface="Courier New" panose="02070309020205020404" pitchFamily="49" charset="0"/>
                <a:cs typeface="Courier New" panose="02070309020205020404" pitchFamily="49" charset="0"/>
              </a:rPr>
              <a:t> line`,w.`Total`,</a:t>
            </a:r>
            <a:r>
              <a:rPr lang="en-US" sz="1400" dirty="0" err="1">
                <a:latin typeface="Courier New" panose="02070309020205020404" pitchFamily="49" charset="0"/>
                <a:cs typeface="Courier New" panose="02070309020205020404" pitchFamily="49" charset="0"/>
              </a:rPr>
              <a:t>avg_tbl.AvgTotal</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CASE</a:t>
            </a:r>
          </a:p>
          <a:p>
            <a:r>
              <a:rPr lang="en-US" sz="1400" dirty="0">
                <a:latin typeface="Courier New" panose="02070309020205020404" pitchFamily="49" charset="0"/>
                <a:cs typeface="Courier New" panose="02070309020205020404" pitchFamily="49" charset="0"/>
              </a:rPr>
              <a:t>WHEN </a:t>
            </a:r>
            <a:r>
              <a:rPr lang="en-US" sz="1400" dirty="0" err="1">
                <a:latin typeface="Courier New" panose="02070309020205020404" pitchFamily="49" charset="0"/>
                <a:cs typeface="Courier New" panose="02070309020205020404" pitchFamily="49" charset="0"/>
              </a:rPr>
              <a:t>w.`Total</a:t>
            </a:r>
            <a:r>
              <a:rPr lang="en-US" sz="1400" dirty="0">
                <a:latin typeface="Courier New" panose="02070309020205020404" pitchFamily="49" charset="0"/>
                <a:cs typeface="Courier New" panose="02070309020205020404" pitchFamily="49" charset="0"/>
              </a:rPr>
              <a:t>` &gt; </a:t>
            </a:r>
            <a:r>
              <a:rPr lang="en-US" sz="1400" dirty="0" err="1">
                <a:latin typeface="Courier New" panose="02070309020205020404" pitchFamily="49" charset="0"/>
                <a:cs typeface="Courier New" panose="02070309020205020404" pitchFamily="49" charset="0"/>
              </a:rPr>
              <a:t>avg_tbl.AvgTotal</a:t>
            </a:r>
            <a:r>
              <a:rPr lang="en-US" sz="1400" dirty="0">
                <a:latin typeface="Courier New" panose="02070309020205020404" pitchFamily="49" charset="0"/>
                <a:cs typeface="Courier New" panose="02070309020205020404" pitchFamily="49" charset="0"/>
              </a:rPr>
              <a:t> * 1.5 THEN 'High Anomaly’</a:t>
            </a:r>
          </a:p>
          <a:p>
            <a:r>
              <a:rPr lang="en-US" sz="1400" dirty="0">
                <a:latin typeface="Courier New" panose="02070309020205020404" pitchFamily="49" charset="0"/>
                <a:cs typeface="Courier New" panose="02070309020205020404" pitchFamily="49" charset="0"/>
              </a:rPr>
              <a:t>WHEN </a:t>
            </a:r>
            <a:r>
              <a:rPr lang="en-US" sz="1400" dirty="0" err="1">
                <a:latin typeface="Courier New" panose="02070309020205020404" pitchFamily="49" charset="0"/>
                <a:cs typeface="Courier New" panose="02070309020205020404" pitchFamily="49" charset="0"/>
              </a:rPr>
              <a:t>w.`Total</a:t>
            </a:r>
            <a:r>
              <a:rPr lang="en-US" sz="1400" dirty="0">
                <a:latin typeface="Courier New" panose="02070309020205020404" pitchFamily="49" charset="0"/>
                <a:cs typeface="Courier New" panose="02070309020205020404" pitchFamily="49" charset="0"/>
              </a:rPr>
              <a:t>` &lt; </a:t>
            </a:r>
            <a:r>
              <a:rPr lang="en-US" sz="1400" dirty="0" err="1">
                <a:latin typeface="Courier New" panose="02070309020205020404" pitchFamily="49" charset="0"/>
                <a:cs typeface="Courier New" panose="02070309020205020404" pitchFamily="49" charset="0"/>
              </a:rPr>
              <a:t>avg_tbl.AvgTotal</a:t>
            </a:r>
            <a:r>
              <a:rPr lang="en-US" sz="1400" dirty="0">
                <a:latin typeface="Courier New" panose="02070309020205020404" pitchFamily="49" charset="0"/>
                <a:cs typeface="Courier New" panose="02070309020205020404" pitchFamily="49" charset="0"/>
              </a:rPr>
              <a:t> * 0.5 THEN 'Low Anomaly’</a:t>
            </a:r>
          </a:p>
          <a:p>
            <a:r>
              <a:rPr lang="en-US" sz="1400" dirty="0">
                <a:latin typeface="Courier New" panose="02070309020205020404" pitchFamily="49" charset="0"/>
                <a:cs typeface="Courier New" panose="02070309020205020404" pitchFamily="49" charset="0"/>
              </a:rPr>
              <a:t>END AS </a:t>
            </a:r>
            <a:r>
              <a:rPr lang="en-US" sz="1400" dirty="0" err="1">
                <a:latin typeface="Courier New" panose="02070309020205020404" pitchFamily="49" charset="0"/>
                <a:cs typeface="Courier New" panose="02070309020205020404" pitchFamily="49" charset="0"/>
              </a:rPr>
              <a:t>AnomalyType</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FROM `</a:t>
            </a:r>
            <a:r>
              <a:rPr lang="en-US" sz="1400" dirty="0" err="1">
                <a:latin typeface="Courier New" panose="02070309020205020404" pitchFamily="49" charset="0"/>
                <a:cs typeface="Courier New" panose="02070309020205020404" pitchFamily="49" charset="0"/>
              </a:rPr>
              <a:t>Walmartsales_data</a:t>
            </a:r>
            <a:r>
              <a:rPr lang="en-US" sz="1400" dirty="0">
                <a:latin typeface="Courier New" panose="02070309020205020404" pitchFamily="49" charset="0"/>
                <a:cs typeface="Courier New" panose="02070309020205020404" pitchFamily="49" charset="0"/>
              </a:rPr>
              <a:t>` w</a:t>
            </a:r>
          </a:p>
          <a:p>
            <a:r>
              <a:rPr lang="en-US" sz="1400" dirty="0">
                <a:latin typeface="Courier New" panose="02070309020205020404" pitchFamily="49" charset="0"/>
                <a:cs typeface="Courier New" panose="02070309020205020404" pitchFamily="49" charset="0"/>
              </a:rPr>
              <a:t>JOIN (SELECT `Product line`, AVG(`Total`) AS </a:t>
            </a:r>
            <a:r>
              <a:rPr lang="en-US" sz="1400" dirty="0" err="1">
                <a:latin typeface="Courier New" panose="02070309020205020404" pitchFamily="49" charset="0"/>
                <a:cs typeface="Courier New" panose="02070309020205020404" pitchFamily="49" charset="0"/>
              </a:rPr>
              <a:t>AvgTotalFROM</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WalmartSales_dataGROUP</a:t>
            </a:r>
            <a:r>
              <a:rPr lang="en-US" sz="1400" dirty="0">
                <a:latin typeface="Courier New" panose="02070309020205020404" pitchFamily="49" charset="0"/>
                <a:cs typeface="Courier New" panose="02070309020205020404" pitchFamily="49" charset="0"/>
              </a:rPr>
              <a:t> BY `Product line`)AS </a:t>
            </a:r>
            <a:r>
              <a:rPr lang="en-US" sz="1400" dirty="0" err="1">
                <a:latin typeface="Courier New" panose="02070309020205020404" pitchFamily="49" charset="0"/>
                <a:cs typeface="Courier New" panose="02070309020205020404" pitchFamily="49" charset="0"/>
              </a:rPr>
              <a:t>avg_tbl</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ON </a:t>
            </a:r>
            <a:r>
              <a:rPr lang="en-US" sz="1400" dirty="0" err="1">
                <a:latin typeface="Courier New" panose="02070309020205020404" pitchFamily="49" charset="0"/>
                <a:cs typeface="Courier New" panose="02070309020205020404" pitchFamily="49" charset="0"/>
              </a:rPr>
              <a:t>w.`Product</a:t>
            </a:r>
            <a:r>
              <a:rPr lang="en-US" sz="1400" dirty="0">
                <a:latin typeface="Courier New" panose="02070309020205020404" pitchFamily="49" charset="0"/>
                <a:cs typeface="Courier New" panose="02070309020205020404" pitchFamily="49" charset="0"/>
              </a:rPr>
              <a:t> line` = avg_</a:t>
            </a:r>
            <a:r>
              <a:rPr lang="en-US" sz="1400" dirty="0" err="1">
                <a:latin typeface="Courier New" panose="02070309020205020404" pitchFamily="49" charset="0"/>
                <a:cs typeface="Courier New" panose="02070309020205020404" pitchFamily="49" charset="0"/>
              </a:rPr>
              <a:t>tbl</a:t>
            </a:r>
            <a:r>
              <a:rPr lang="en-US" sz="1400" dirty="0">
                <a:latin typeface="Courier New" panose="02070309020205020404" pitchFamily="49" charset="0"/>
                <a:cs typeface="Courier New" panose="02070309020205020404" pitchFamily="49" charset="0"/>
              </a:rPr>
              <a:t>.`Product line`</a:t>
            </a:r>
          </a:p>
          <a:p>
            <a:r>
              <a:rPr lang="en-US" sz="1400" dirty="0">
                <a:latin typeface="Courier New" panose="02070309020205020404" pitchFamily="49" charset="0"/>
                <a:cs typeface="Courier New" panose="02070309020205020404" pitchFamily="49" charset="0"/>
              </a:rPr>
              <a:t>WHERE </a:t>
            </a:r>
            <a:r>
              <a:rPr lang="en-US" sz="1400" dirty="0" err="1">
                <a:latin typeface="Courier New" panose="02070309020205020404" pitchFamily="49" charset="0"/>
                <a:cs typeface="Courier New" panose="02070309020205020404" pitchFamily="49" charset="0"/>
              </a:rPr>
              <a:t>avg_tbl.AvgTotal</a:t>
            </a:r>
            <a:r>
              <a:rPr lang="en-US" sz="1400" dirty="0">
                <a:latin typeface="Courier New" panose="02070309020205020404" pitchFamily="49" charset="0"/>
                <a:cs typeface="Courier New" panose="02070309020205020404" pitchFamily="49" charset="0"/>
              </a:rPr>
              <a:t> * 1.5 </a:t>
            </a:r>
          </a:p>
          <a:p>
            <a:r>
              <a:rPr lang="en-US" sz="1400" dirty="0">
                <a:latin typeface="Courier New" panose="02070309020205020404" pitchFamily="49" charset="0"/>
                <a:cs typeface="Courier New" panose="02070309020205020404" pitchFamily="49" charset="0"/>
              </a:rPr>
              <a:t>OR</a:t>
            </a:r>
          </a:p>
          <a:p>
            <a:r>
              <a:rPr lang="en-US" sz="1400" dirty="0" err="1">
                <a:latin typeface="Courier New" panose="02070309020205020404" pitchFamily="49" charset="0"/>
                <a:cs typeface="Courier New" panose="02070309020205020404" pitchFamily="49" charset="0"/>
              </a:rPr>
              <a:t>avg_tbl.AvgTotal</a:t>
            </a:r>
            <a:r>
              <a:rPr lang="en-US" sz="1400" dirty="0">
                <a:latin typeface="Courier New" panose="02070309020205020404" pitchFamily="49" charset="0"/>
                <a:cs typeface="Courier New" panose="02070309020205020404" pitchFamily="49" charset="0"/>
              </a:rPr>
              <a:t> * 0.5;</a:t>
            </a:r>
          </a:p>
        </p:txBody>
      </p:sp>
    </p:spTree>
    <p:extLst>
      <p:ext uri="{BB962C8B-B14F-4D97-AF65-F5344CB8AC3E}">
        <p14:creationId xmlns:p14="http://schemas.microsoft.com/office/powerpoint/2010/main" val="2495576505"/>
      </p:ext>
    </p:extLst>
  </p:cSld>
  <p:clrMapOvr>
    <a:masterClrMapping/>
  </p:clrMapOvr>
  <mc:AlternateContent xmlns:mc="http://schemas.openxmlformats.org/markup-compatibility/2006" xmlns:p14="http://schemas.microsoft.com/office/powerpoint/2010/main">
    <mc:Choice Requires="p14">
      <p:transition spd="slow" p14:dur="2000" advTm="14377"/>
    </mc:Choice>
    <mc:Fallback xmlns="">
      <p:transition spd="slow" advTm="1437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A72865-2472-4930-BFC3-2593C48F3249}"/>
              </a:ext>
            </a:extLst>
          </p:cNvPr>
          <p:cNvPicPr>
            <a:picLocks noChangeAspect="1"/>
          </p:cNvPicPr>
          <p:nvPr/>
        </p:nvPicPr>
        <p:blipFill>
          <a:blip r:embed="rId2"/>
          <a:stretch>
            <a:fillRect/>
          </a:stretch>
        </p:blipFill>
        <p:spPr>
          <a:xfrm>
            <a:off x="6772275" y="0"/>
            <a:ext cx="2371725" cy="1304925"/>
          </a:xfrm>
          <a:prstGeom prst="rect">
            <a:avLst/>
          </a:prstGeom>
        </p:spPr>
      </p:pic>
      <p:pic>
        <p:nvPicPr>
          <p:cNvPr id="3" name="Picture 2">
            <a:extLst>
              <a:ext uri="{FF2B5EF4-FFF2-40B4-BE49-F238E27FC236}">
                <a16:creationId xmlns:a16="http://schemas.microsoft.com/office/drawing/2014/main" id="{9B93B9F7-2C5F-48E1-A610-EFCDC070A86F}"/>
              </a:ext>
            </a:extLst>
          </p:cNvPr>
          <p:cNvPicPr>
            <a:picLocks noChangeAspect="1"/>
          </p:cNvPicPr>
          <p:nvPr/>
        </p:nvPicPr>
        <p:blipFill>
          <a:blip r:embed="rId3"/>
          <a:stretch>
            <a:fillRect/>
          </a:stretch>
        </p:blipFill>
        <p:spPr>
          <a:xfrm>
            <a:off x="872899" y="1036098"/>
            <a:ext cx="6906589" cy="4058216"/>
          </a:xfrm>
          <a:prstGeom prst="rect">
            <a:avLst/>
          </a:prstGeom>
        </p:spPr>
      </p:pic>
      <p:sp>
        <p:nvSpPr>
          <p:cNvPr id="4" name="TextBox 3">
            <a:extLst>
              <a:ext uri="{FF2B5EF4-FFF2-40B4-BE49-F238E27FC236}">
                <a16:creationId xmlns:a16="http://schemas.microsoft.com/office/drawing/2014/main" id="{BCE63650-33E6-4AD8-AEEF-D80432C37681}"/>
              </a:ext>
            </a:extLst>
          </p:cNvPr>
          <p:cNvSpPr txBox="1"/>
          <p:nvPr/>
        </p:nvSpPr>
        <p:spPr>
          <a:xfrm>
            <a:off x="872899" y="5094314"/>
            <a:ext cx="7553346" cy="369332"/>
          </a:xfrm>
          <a:prstGeom prst="rect">
            <a:avLst/>
          </a:prstGeom>
          <a:noFill/>
        </p:spPr>
        <p:txBody>
          <a:bodyPr wrap="square" rtlCol="0">
            <a:spAutoFit/>
          </a:bodyPr>
          <a:lstStyle/>
          <a:p>
            <a:pPr algn="ctr"/>
            <a:r>
              <a:rPr lang="en-US" dirty="0"/>
              <a:t>This is showing Null values If no Anomaly were found.</a:t>
            </a:r>
          </a:p>
        </p:txBody>
      </p:sp>
      <p:sp>
        <p:nvSpPr>
          <p:cNvPr id="5" name="TextBox 4">
            <a:extLst>
              <a:ext uri="{FF2B5EF4-FFF2-40B4-BE49-F238E27FC236}">
                <a16:creationId xmlns:a16="http://schemas.microsoft.com/office/drawing/2014/main" id="{457FF407-E045-4F70-A5F3-333DCB357CF8}"/>
              </a:ext>
            </a:extLst>
          </p:cNvPr>
          <p:cNvSpPr txBox="1"/>
          <p:nvPr/>
        </p:nvSpPr>
        <p:spPr>
          <a:xfrm>
            <a:off x="688258" y="5781368"/>
            <a:ext cx="8141110" cy="646331"/>
          </a:xfrm>
          <a:prstGeom prst="rect">
            <a:avLst/>
          </a:prstGeom>
          <a:noFill/>
        </p:spPr>
        <p:txBody>
          <a:bodyPr wrap="square" rtlCol="0">
            <a:spAutoFit/>
          </a:bodyPr>
          <a:lstStyle/>
          <a:p>
            <a:r>
              <a:rPr lang="en-US" b="1" dirty="0"/>
              <a:t>Insights and Suggestions</a:t>
            </a:r>
            <a:r>
              <a:rPr lang="en-US" dirty="0"/>
              <a:t>: This helps in identifying </a:t>
            </a:r>
            <a:r>
              <a:rPr lang="en-US" b="1" dirty="0"/>
              <a:t>errors</a:t>
            </a:r>
            <a:r>
              <a:rPr lang="en-US" dirty="0"/>
              <a:t>, </a:t>
            </a:r>
            <a:r>
              <a:rPr lang="en-US" b="1" dirty="0"/>
              <a:t>suspicious activity</a:t>
            </a:r>
            <a:r>
              <a:rPr lang="en-US" dirty="0"/>
              <a:t>, or </a:t>
            </a:r>
            <a:r>
              <a:rPr lang="en-US" b="1" dirty="0"/>
              <a:t>outlier behavior</a:t>
            </a:r>
            <a:r>
              <a:rPr lang="en-US" dirty="0"/>
              <a:t>.</a:t>
            </a:r>
          </a:p>
        </p:txBody>
      </p:sp>
    </p:spTree>
    <p:extLst>
      <p:ext uri="{BB962C8B-B14F-4D97-AF65-F5344CB8AC3E}">
        <p14:creationId xmlns:p14="http://schemas.microsoft.com/office/powerpoint/2010/main" val="4234940728"/>
      </p:ext>
    </p:extLst>
  </p:cSld>
  <p:clrMapOvr>
    <a:masterClrMapping/>
  </p:clrMapOvr>
  <mc:AlternateContent xmlns:mc="http://schemas.openxmlformats.org/markup-compatibility/2006" xmlns:p14="http://schemas.microsoft.com/office/powerpoint/2010/main">
    <mc:Choice Requires="p14">
      <p:transition spd="slow" p14:dur="2000" advTm="18242"/>
    </mc:Choice>
    <mc:Fallback xmlns="">
      <p:transition spd="slow" advTm="1824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518640-AD98-4827-A767-56CA0E5D52AE}"/>
              </a:ext>
            </a:extLst>
          </p:cNvPr>
          <p:cNvPicPr>
            <a:picLocks noChangeAspect="1"/>
          </p:cNvPicPr>
          <p:nvPr/>
        </p:nvPicPr>
        <p:blipFill>
          <a:blip r:embed="rId2"/>
          <a:stretch>
            <a:fillRect/>
          </a:stretch>
        </p:blipFill>
        <p:spPr>
          <a:xfrm>
            <a:off x="6772275" y="0"/>
            <a:ext cx="2371725" cy="1304925"/>
          </a:xfrm>
          <a:prstGeom prst="rect">
            <a:avLst/>
          </a:prstGeom>
        </p:spPr>
      </p:pic>
      <p:sp>
        <p:nvSpPr>
          <p:cNvPr id="4" name="TextBox 3">
            <a:extLst>
              <a:ext uri="{FF2B5EF4-FFF2-40B4-BE49-F238E27FC236}">
                <a16:creationId xmlns:a16="http://schemas.microsoft.com/office/drawing/2014/main" id="{0E5C4FC6-5671-451A-A3A8-94BCCA167F2E}"/>
              </a:ext>
            </a:extLst>
          </p:cNvPr>
          <p:cNvSpPr txBox="1"/>
          <p:nvPr/>
        </p:nvSpPr>
        <p:spPr>
          <a:xfrm>
            <a:off x="245807" y="781705"/>
            <a:ext cx="8082116" cy="523220"/>
          </a:xfrm>
          <a:prstGeom prst="rect">
            <a:avLst/>
          </a:prstGeom>
          <a:noFill/>
        </p:spPr>
        <p:txBody>
          <a:bodyPr wrap="square" rtlCol="0">
            <a:spAutoFit/>
          </a:bodyPr>
          <a:lstStyle/>
          <a:p>
            <a:r>
              <a:rPr lang="en-US" sz="2800" b="1" dirty="0"/>
              <a:t>Task 5: Most Popular Payment Method by City.</a:t>
            </a:r>
          </a:p>
        </p:txBody>
      </p:sp>
      <p:sp>
        <p:nvSpPr>
          <p:cNvPr id="5" name="TextBox 4">
            <a:extLst>
              <a:ext uri="{FF2B5EF4-FFF2-40B4-BE49-F238E27FC236}">
                <a16:creationId xmlns:a16="http://schemas.microsoft.com/office/drawing/2014/main" id="{2719DF0D-2FB2-45CA-A78A-D54A341A3600}"/>
              </a:ext>
            </a:extLst>
          </p:cNvPr>
          <p:cNvSpPr txBox="1"/>
          <p:nvPr/>
        </p:nvSpPr>
        <p:spPr>
          <a:xfrm>
            <a:off x="319550" y="1427825"/>
            <a:ext cx="8327922" cy="923330"/>
          </a:xfrm>
          <a:prstGeom prst="rect">
            <a:avLst/>
          </a:prstGeom>
          <a:noFill/>
        </p:spPr>
        <p:txBody>
          <a:bodyPr wrap="square" rtlCol="0">
            <a:spAutoFit/>
          </a:bodyPr>
          <a:lstStyle/>
          <a:p>
            <a:r>
              <a:rPr lang="en-US" b="1" dirty="0"/>
              <a:t>Approach: First we will count how many times each payment method was used in each city. </a:t>
            </a:r>
            <a:br>
              <a:rPr lang="en-US" b="1" dirty="0"/>
            </a:br>
            <a:r>
              <a:rPr lang="en-US" b="1" dirty="0"/>
              <a:t>Secondly we will use RANK to find the most used payment method Per city.</a:t>
            </a:r>
          </a:p>
        </p:txBody>
      </p:sp>
      <p:sp>
        <p:nvSpPr>
          <p:cNvPr id="9" name="TextBox 8">
            <a:extLst>
              <a:ext uri="{FF2B5EF4-FFF2-40B4-BE49-F238E27FC236}">
                <a16:creationId xmlns:a16="http://schemas.microsoft.com/office/drawing/2014/main" id="{2A18DC72-6E9E-493B-BC9B-42E3C7649B48}"/>
              </a:ext>
            </a:extLst>
          </p:cNvPr>
          <p:cNvSpPr txBox="1"/>
          <p:nvPr/>
        </p:nvSpPr>
        <p:spPr>
          <a:xfrm>
            <a:off x="319550" y="2585884"/>
            <a:ext cx="8470489" cy="1600438"/>
          </a:xfrm>
          <a:prstGeom prst="rect">
            <a:avLst/>
          </a:prstGeom>
          <a:noFill/>
        </p:spPr>
        <p:txBody>
          <a:bodyPr wrap="square" rtlCol="0">
            <a:spAutoFit/>
          </a:bodyPr>
          <a:lstStyle/>
          <a:p>
            <a:r>
              <a:rPr lang="en-US" sz="1400" dirty="0">
                <a:latin typeface="Courier New" panose="02070309020205020404" pitchFamily="49" charset="0"/>
                <a:cs typeface="Courier New" panose="02070309020205020404" pitchFamily="49" charset="0"/>
              </a:rPr>
              <a:t>SELECT * FROM (</a:t>
            </a:r>
          </a:p>
          <a:p>
            <a:r>
              <a:rPr lang="en-US" sz="1400" dirty="0">
                <a:latin typeface="Courier New" panose="02070309020205020404" pitchFamily="49" charset="0"/>
                <a:cs typeface="Courier New" panose="02070309020205020404" pitchFamily="49" charset="0"/>
              </a:rPr>
              <a:t>SELECT City,Payment,COUNT(*) AS TransactionCount,</a:t>
            </a:r>
          </a:p>
          <a:p>
            <a:r>
              <a:rPr lang="en-US" sz="1400" dirty="0">
                <a:latin typeface="Courier New" panose="02070309020205020404" pitchFamily="49" charset="0"/>
                <a:cs typeface="Courier New" panose="02070309020205020404" pitchFamily="49" charset="0"/>
              </a:rPr>
              <a:t>RANK() OVER (PARTITION BY City ORDER BY COUNT(*) DESC) AS </a:t>
            </a:r>
            <a:r>
              <a:rPr lang="en-US" sz="1400" dirty="0" err="1">
                <a:latin typeface="Courier New" panose="02070309020205020404" pitchFamily="49" charset="0"/>
                <a:cs typeface="Courier New" panose="02070309020205020404" pitchFamily="49" charset="0"/>
              </a:rPr>
              <a:t>PaymentRank</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FROM Walmartsales_data</a:t>
            </a:r>
          </a:p>
          <a:p>
            <a:r>
              <a:rPr lang="en-US" sz="1400" dirty="0">
                <a:latin typeface="Courier New" panose="02070309020205020404" pitchFamily="49" charset="0"/>
                <a:cs typeface="Courier New" panose="02070309020205020404" pitchFamily="49" charset="0"/>
              </a:rPr>
              <a:t>GROUP BY City, Payment) AS </a:t>
            </a:r>
            <a:r>
              <a:rPr lang="en-US" sz="1400" dirty="0" err="1">
                <a:latin typeface="Courier New" panose="02070309020205020404" pitchFamily="49" charset="0"/>
                <a:cs typeface="Courier New" panose="02070309020205020404" pitchFamily="49" charset="0"/>
              </a:rPr>
              <a:t>ranked_payments</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WHERE </a:t>
            </a:r>
            <a:r>
              <a:rPr lang="en-US" sz="1400" dirty="0" err="1">
                <a:latin typeface="Courier New" panose="02070309020205020404" pitchFamily="49" charset="0"/>
                <a:cs typeface="Courier New" panose="02070309020205020404" pitchFamily="49" charset="0"/>
              </a:rPr>
              <a:t>PaymentRank</a:t>
            </a:r>
            <a:r>
              <a:rPr lang="en-US" sz="1400" dirty="0">
                <a:latin typeface="Courier New" panose="02070309020205020404" pitchFamily="49" charset="0"/>
                <a:cs typeface="Courier New" panose="02070309020205020404" pitchFamily="49" charset="0"/>
              </a:rPr>
              <a:t> = 1</a:t>
            </a:r>
          </a:p>
          <a:p>
            <a:r>
              <a:rPr lang="en-US" sz="1400" dirty="0">
                <a:latin typeface="Courier New" panose="02070309020205020404" pitchFamily="49" charset="0"/>
                <a:cs typeface="Courier New" panose="02070309020205020404" pitchFamily="49" charset="0"/>
              </a:rPr>
              <a:t>ORDER BY TransactionCount DESC;</a:t>
            </a:r>
          </a:p>
        </p:txBody>
      </p:sp>
      <p:pic>
        <p:nvPicPr>
          <p:cNvPr id="10" name="Picture 9">
            <a:extLst>
              <a:ext uri="{FF2B5EF4-FFF2-40B4-BE49-F238E27FC236}">
                <a16:creationId xmlns:a16="http://schemas.microsoft.com/office/drawing/2014/main" id="{B0CDC624-1742-4DD1-A3C8-7D47D519E6C7}"/>
              </a:ext>
            </a:extLst>
          </p:cNvPr>
          <p:cNvPicPr>
            <a:picLocks noChangeAspect="1"/>
          </p:cNvPicPr>
          <p:nvPr/>
        </p:nvPicPr>
        <p:blipFill>
          <a:blip r:embed="rId3"/>
          <a:stretch>
            <a:fillRect/>
          </a:stretch>
        </p:blipFill>
        <p:spPr>
          <a:xfrm>
            <a:off x="1921425" y="4753169"/>
            <a:ext cx="5124171" cy="1323126"/>
          </a:xfrm>
          <a:prstGeom prst="rect">
            <a:avLst/>
          </a:prstGeom>
        </p:spPr>
      </p:pic>
    </p:spTree>
    <p:extLst>
      <p:ext uri="{BB962C8B-B14F-4D97-AF65-F5344CB8AC3E}">
        <p14:creationId xmlns:p14="http://schemas.microsoft.com/office/powerpoint/2010/main" val="2026800215"/>
      </p:ext>
    </p:extLst>
  </p:cSld>
  <p:clrMapOvr>
    <a:masterClrMapping/>
  </p:clrMapOvr>
  <mc:AlternateContent xmlns:mc="http://schemas.openxmlformats.org/markup-compatibility/2006" xmlns:p14="http://schemas.microsoft.com/office/powerpoint/2010/main">
    <mc:Choice Requires="p14">
      <p:transition spd="slow" p14:dur="2000" advTm="14515"/>
    </mc:Choice>
    <mc:Fallback xmlns="">
      <p:transition spd="slow" advTm="1451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142BF0-EC18-463B-AA28-2CA02467BF0A}"/>
              </a:ext>
            </a:extLst>
          </p:cNvPr>
          <p:cNvPicPr>
            <a:picLocks noChangeAspect="1"/>
          </p:cNvPicPr>
          <p:nvPr/>
        </p:nvPicPr>
        <p:blipFill>
          <a:blip r:embed="rId2"/>
          <a:stretch>
            <a:fillRect/>
          </a:stretch>
        </p:blipFill>
        <p:spPr>
          <a:xfrm>
            <a:off x="6772275" y="0"/>
            <a:ext cx="2371725" cy="1304925"/>
          </a:xfrm>
          <a:prstGeom prst="rect">
            <a:avLst/>
          </a:prstGeom>
        </p:spPr>
      </p:pic>
      <p:graphicFrame>
        <p:nvGraphicFramePr>
          <p:cNvPr id="3" name="Table 2">
            <a:extLst>
              <a:ext uri="{FF2B5EF4-FFF2-40B4-BE49-F238E27FC236}">
                <a16:creationId xmlns:a16="http://schemas.microsoft.com/office/drawing/2014/main" id="{69810F2E-A474-4863-99E7-9B178FDA3E9F}"/>
              </a:ext>
            </a:extLst>
          </p:cNvPr>
          <p:cNvGraphicFramePr>
            <a:graphicFrameLocks noGrp="1"/>
          </p:cNvGraphicFramePr>
          <p:nvPr>
            <p:extLst>
              <p:ext uri="{D42A27DB-BD31-4B8C-83A1-F6EECF244321}">
                <p14:modId xmlns:p14="http://schemas.microsoft.com/office/powerpoint/2010/main" val="3911778803"/>
              </p:ext>
            </p:extLst>
          </p:nvPr>
        </p:nvGraphicFramePr>
        <p:xfrm>
          <a:off x="1914115" y="294071"/>
          <a:ext cx="4509525" cy="1589088"/>
        </p:xfrm>
        <a:graphic>
          <a:graphicData uri="http://schemas.openxmlformats.org/drawingml/2006/table">
            <a:tbl>
              <a:tblPr>
                <a:tableStyleId>{5C22544A-7EE6-4342-B048-85BDC9FD1C3A}</a:tableStyleId>
              </a:tblPr>
              <a:tblGrid>
                <a:gridCol w="748987">
                  <a:extLst>
                    <a:ext uri="{9D8B030D-6E8A-4147-A177-3AD203B41FA5}">
                      <a16:colId xmlns:a16="http://schemas.microsoft.com/office/drawing/2014/main" val="203721531"/>
                    </a:ext>
                  </a:extLst>
                </a:gridCol>
                <a:gridCol w="920629">
                  <a:extLst>
                    <a:ext uri="{9D8B030D-6E8A-4147-A177-3AD203B41FA5}">
                      <a16:colId xmlns:a16="http://schemas.microsoft.com/office/drawing/2014/main" val="4074967092"/>
                    </a:ext>
                  </a:extLst>
                </a:gridCol>
                <a:gridCol w="1560390">
                  <a:extLst>
                    <a:ext uri="{9D8B030D-6E8A-4147-A177-3AD203B41FA5}">
                      <a16:colId xmlns:a16="http://schemas.microsoft.com/office/drawing/2014/main" val="486466615"/>
                    </a:ext>
                  </a:extLst>
                </a:gridCol>
                <a:gridCol w="1279519">
                  <a:extLst>
                    <a:ext uri="{9D8B030D-6E8A-4147-A177-3AD203B41FA5}">
                      <a16:colId xmlns:a16="http://schemas.microsoft.com/office/drawing/2014/main" val="3500543569"/>
                    </a:ext>
                  </a:extLst>
                </a:gridCol>
              </a:tblGrid>
              <a:tr h="562253">
                <a:tc>
                  <a:txBody>
                    <a:bodyPr/>
                    <a:lstStyle/>
                    <a:p>
                      <a:pPr algn="l" fontAlgn="b"/>
                      <a:r>
                        <a:rPr lang="en-US" sz="1100" u="none" strike="noStrike">
                          <a:effectLst/>
                        </a:rPr>
                        <a:t>City</a:t>
                      </a:r>
                      <a:endParaRPr lang="en-US" sz="1100" b="1" i="0" u="none" strike="noStrike">
                        <a:solidFill>
                          <a:srgbClr val="FFFFFF"/>
                        </a:solidFill>
                        <a:effectLst/>
                        <a:latin typeface="Calibri" panose="020F0502020204030204" pitchFamily="34" charset="0"/>
                      </a:endParaRPr>
                    </a:p>
                  </a:txBody>
                  <a:tcPr marL="6350" marR="6350" marT="6350" marB="0" anchor="b"/>
                </a:tc>
                <a:tc>
                  <a:txBody>
                    <a:bodyPr/>
                    <a:lstStyle/>
                    <a:p>
                      <a:pPr algn="l" fontAlgn="b"/>
                      <a:r>
                        <a:rPr lang="en-US" sz="1100" u="none" strike="noStrike" dirty="0">
                          <a:effectLst/>
                        </a:rPr>
                        <a:t> Payment</a:t>
                      </a:r>
                      <a:endParaRPr lang="en-US" sz="1100" b="1"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US" sz="1100" u="none" strike="noStrike" dirty="0">
                          <a:effectLst/>
                        </a:rPr>
                        <a:t> TransactionCount</a:t>
                      </a:r>
                      <a:endParaRPr lang="en-US" sz="1100" b="1"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PaymentRank</a:t>
                      </a:r>
                      <a:endParaRPr lang="en-US" sz="1100" b="1" i="0" u="none" strike="noStrike">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75433436"/>
                  </a:ext>
                </a:extLst>
              </a:tr>
              <a:tr h="378026">
                <a:tc>
                  <a:txBody>
                    <a:bodyPr/>
                    <a:lstStyle/>
                    <a:p>
                      <a:pPr algn="l" fontAlgn="b"/>
                      <a:r>
                        <a:rPr lang="en-US" sz="1100" u="none" strike="noStrike">
                          <a:effectLst/>
                        </a:rPr>
                        <a:t>Yangon</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Ewallet</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dirty="0">
                          <a:effectLst/>
                        </a:rPr>
                        <a:t>126</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451194352"/>
                  </a:ext>
                </a:extLst>
              </a:tr>
              <a:tr h="283282">
                <a:tc>
                  <a:txBody>
                    <a:bodyPr/>
                    <a:lstStyle/>
                    <a:p>
                      <a:pPr algn="l" fontAlgn="b"/>
                      <a:r>
                        <a:rPr lang="en-US" sz="1100" u="none" strike="noStrike" dirty="0">
                          <a:effectLst/>
                        </a:rPr>
                        <a:t>Naypyitaw</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Cash</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124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16351631"/>
                  </a:ext>
                </a:extLst>
              </a:tr>
              <a:tr h="365527">
                <a:tc>
                  <a:txBody>
                    <a:bodyPr/>
                    <a:lstStyle/>
                    <a:p>
                      <a:pPr algn="l" fontAlgn="b"/>
                      <a:r>
                        <a:rPr lang="en-US" sz="1100" u="none" strike="noStrike" dirty="0">
                          <a:effectLst/>
                        </a:rPr>
                        <a:t>Mandalay</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Ewallet</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dirty="0">
                          <a:effectLst/>
                        </a:rPr>
                        <a:t>113</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276457819"/>
                  </a:ext>
                </a:extLst>
              </a:tr>
            </a:tbl>
          </a:graphicData>
        </a:graphic>
      </p:graphicFrame>
      <p:graphicFrame>
        <p:nvGraphicFramePr>
          <p:cNvPr id="4" name="Chart 3">
            <a:extLst>
              <a:ext uri="{FF2B5EF4-FFF2-40B4-BE49-F238E27FC236}">
                <a16:creationId xmlns:a16="http://schemas.microsoft.com/office/drawing/2014/main" id="{916D9148-FFA2-4665-9AF4-7069EF2A22FC}"/>
              </a:ext>
            </a:extLst>
          </p:cNvPr>
          <p:cNvGraphicFramePr>
            <a:graphicFrameLocks/>
          </p:cNvGraphicFramePr>
          <p:nvPr>
            <p:extLst>
              <p:ext uri="{D42A27DB-BD31-4B8C-83A1-F6EECF244321}">
                <p14:modId xmlns:p14="http://schemas.microsoft.com/office/powerpoint/2010/main" val="1178959995"/>
              </p:ext>
            </p:extLst>
          </p:nvPr>
        </p:nvGraphicFramePr>
        <p:xfrm>
          <a:off x="1002891" y="2030643"/>
          <a:ext cx="7256206" cy="3234813"/>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D027E86E-7CE5-46D8-AE0F-99B2455C582F}"/>
              </a:ext>
            </a:extLst>
          </p:cNvPr>
          <p:cNvSpPr txBox="1"/>
          <p:nvPr/>
        </p:nvSpPr>
        <p:spPr>
          <a:xfrm>
            <a:off x="688257" y="5545393"/>
            <a:ext cx="8219769" cy="1200329"/>
          </a:xfrm>
          <a:prstGeom prst="rect">
            <a:avLst/>
          </a:prstGeom>
          <a:noFill/>
        </p:spPr>
        <p:txBody>
          <a:bodyPr wrap="square" rtlCol="0">
            <a:spAutoFit/>
          </a:bodyPr>
          <a:lstStyle/>
          <a:p>
            <a:r>
              <a:rPr lang="en-US" b="1" dirty="0"/>
              <a:t>Insights and suggestions: </a:t>
            </a:r>
            <a:r>
              <a:rPr lang="en-US" dirty="0"/>
              <a:t>This clearly shows that </a:t>
            </a:r>
            <a:r>
              <a:rPr lang="en-US" b="1" dirty="0" err="1"/>
              <a:t>Ewallets</a:t>
            </a:r>
            <a:r>
              <a:rPr lang="en-US" dirty="0"/>
              <a:t> are most popular in Yangon and Mandalay, </a:t>
            </a:r>
            <a:r>
              <a:rPr lang="en-US" b="1" dirty="0"/>
              <a:t>Cash</a:t>
            </a:r>
            <a:r>
              <a:rPr lang="en-US" dirty="0"/>
              <a:t> remains dominant in Naypyitaw.</a:t>
            </a:r>
            <a:br>
              <a:rPr lang="en-US" dirty="0"/>
            </a:br>
            <a:r>
              <a:rPr lang="en-US" dirty="0"/>
              <a:t>We can enables city-wise </a:t>
            </a:r>
            <a:r>
              <a:rPr lang="en-US" b="1" dirty="0"/>
              <a:t>POS optimization</a:t>
            </a:r>
            <a:r>
              <a:rPr lang="en-US" dirty="0"/>
              <a:t>.</a:t>
            </a:r>
            <a:br>
              <a:rPr lang="en-US" dirty="0"/>
            </a:br>
            <a:endParaRPr lang="en-US"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836932667"/>
      </p:ext>
    </p:extLst>
  </p:cSld>
  <p:clrMapOvr>
    <a:masterClrMapping/>
  </p:clrMapOvr>
  <mc:AlternateContent xmlns:mc="http://schemas.openxmlformats.org/markup-compatibility/2006" xmlns:p14="http://schemas.microsoft.com/office/powerpoint/2010/main">
    <mc:Choice Requires="p14">
      <p:transition spd="slow" p14:dur="2000" advTm="15372"/>
    </mc:Choice>
    <mc:Fallback xmlns="">
      <p:transition spd="slow" advTm="1537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093AD5-6D73-4CC6-8019-29DE979710D2}"/>
              </a:ext>
            </a:extLst>
          </p:cNvPr>
          <p:cNvPicPr>
            <a:picLocks noChangeAspect="1"/>
          </p:cNvPicPr>
          <p:nvPr/>
        </p:nvPicPr>
        <p:blipFill>
          <a:blip r:embed="rId2"/>
          <a:stretch>
            <a:fillRect/>
          </a:stretch>
        </p:blipFill>
        <p:spPr>
          <a:xfrm>
            <a:off x="6772275" y="0"/>
            <a:ext cx="2371725" cy="1304925"/>
          </a:xfrm>
          <a:prstGeom prst="rect">
            <a:avLst/>
          </a:prstGeom>
        </p:spPr>
      </p:pic>
      <p:sp>
        <p:nvSpPr>
          <p:cNvPr id="3" name="TextBox 2">
            <a:extLst>
              <a:ext uri="{FF2B5EF4-FFF2-40B4-BE49-F238E27FC236}">
                <a16:creationId xmlns:a16="http://schemas.microsoft.com/office/drawing/2014/main" id="{C425AF1F-ACC8-417C-8015-EE603CEC7226}"/>
              </a:ext>
            </a:extLst>
          </p:cNvPr>
          <p:cNvSpPr txBox="1"/>
          <p:nvPr/>
        </p:nvSpPr>
        <p:spPr>
          <a:xfrm>
            <a:off x="422787" y="887382"/>
            <a:ext cx="8377084" cy="523220"/>
          </a:xfrm>
          <a:prstGeom prst="rect">
            <a:avLst/>
          </a:prstGeom>
          <a:noFill/>
        </p:spPr>
        <p:txBody>
          <a:bodyPr wrap="square" rtlCol="0">
            <a:spAutoFit/>
          </a:bodyPr>
          <a:lstStyle/>
          <a:p>
            <a:r>
              <a:rPr lang="en-US" sz="2800" b="1" dirty="0"/>
              <a:t>Task 6 : Monthly Sales Distribution by Gender.</a:t>
            </a:r>
          </a:p>
        </p:txBody>
      </p:sp>
      <p:sp>
        <p:nvSpPr>
          <p:cNvPr id="4" name="TextBox 3">
            <a:extLst>
              <a:ext uri="{FF2B5EF4-FFF2-40B4-BE49-F238E27FC236}">
                <a16:creationId xmlns:a16="http://schemas.microsoft.com/office/drawing/2014/main" id="{5B7C25DC-070A-4D95-926D-01B63192FD27}"/>
              </a:ext>
            </a:extLst>
          </p:cNvPr>
          <p:cNvSpPr txBox="1"/>
          <p:nvPr/>
        </p:nvSpPr>
        <p:spPr>
          <a:xfrm>
            <a:off x="422787" y="1543664"/>
            <a:ext cx="8091949" cy="646331"/>
          </a:xfrm>
          <a:prstGeom prst="rect">
            <a:avLst/>
          </a:prstGeom>
          <a:noFill/>
        </p:spPr>
        <p:txBody>
          <a:bodyPr wrap="square" rtlCol="0">
            <a:spAutoFit/>
          </a:bodyPr>
          <a:lstStyle/>
          <a:p>
            <a:r>
              <a:rPr lang="en-US" b="1" dirty="0"/>
              <a:t>Approach : We will Groups sales by month and gender then we will calculate the total sales for each gender in each month. </a:t>
            </a:r>
          </a:p>
        </p:txBody>
      </p:sp>
      <p:sp>
        <p:nvSpPr>
          <p:cNvPr id="8" name="TextBox 7">
            <a:extLst>
              <a:ext uri="{FF2B5EF4-FFF2-40B4-BE49-F238E27FC236}">
                <a16:creationId xmlns:a16="http://schemas.microsoft.com/office/drawing/2014/main" id="{1340E84F-03BF-434D-9E75-953B634B8CBC}"/>
              </a:ext>
            </a:extLst>
          </p:cNvPr>
          <p:cNvSpPr txBox="1"/>
          <p:nvPr/>
        </p:nvSpPr>
        <p:spPr>
          <a:xfrm>
            <a:off x="540774" y="2438400"/>
            <a:ext cx="8259097" cy="2277547"/>
          </a:xfrm>
          <a:prstGeom prst="rect">
            <a:avLst/>
          </a:prstGeom>
          <a:noFill/>
        </p:spPr>
        <p:txBody>
          <a:bodyPr wrap="square" rtlCol="0">
            <a:spAutoFit/>
          </a:bodyPr>
          <a:lstStyle/>
          <a:p>
            <a:pPr>
              <a:lnSpc>
                <a:spcPct val="150000"/>
              </a:lnSpc>
            </a:pPr>
            <a:r>
              <a:rPr lang="en-US" sz="1600" dirty="0">
                <a:latin typeface="Courier New" panose="02070309020205020404" pitchFamily="49" charset="0"/>
                <a:cs typeface="Courier New" panose="02070309020205020404" pitchFamily="49" charset="0"/>
              </a:rPr>
              <a:t>Select * From (</a:t>
            </a:r>
          </a:p>
          <a:p>
            <a:pPr>
              <a:lnSpc>
                <a:spcPct val="150000"/>
              </a:lnSpc>
            </a:pPr>
            <a:r>
              <a:rPr lang="en-US" sz="1600" dirty="0">
                <a:latin typeface="Courier New" panose="02070309020205020404" pitchFamily="49" charset="0"/>
                <a:cs typeface="Courier New" panose="02070309020205020404" pitchFamily="49" charset="0"/>
              </a:rPr>
              <a:t>Select DATE_FORMAT(STR_TO_DATE(Date, '%d-%m-%y'), '%Y-%m') AS </a:t>
            </a:r>
            <a:r>
              <a:rPr lang="en-US" sz="1600" dirty="0" err="1">
                <a:latin typeface="Courier New" panose="02070309020205020404" pitchFamily="49" charset="0"/>
                <a:cs typeface="Courier New" panose="02070309020205020404" pitchFamily="49" charset="0"/>
              </a:rPr>
              <a:t>SalesMonth</a:t>
            </a:r>
            <a:r>
              <a:rPr lang="en-US" sz="1600" dirty="0">
                <a:latin typeface="Courier New" panose="02070309020205020404" pitchFamily="49" charset="0"/>
                <a:cs typeface="Courier New" panose="02070309020205020404" pitchFamily="49" charset="0"/>
              </a:rPr>
              <a:t>, Sum(`Total`) As </a:t>
            </a:r>
            <a:r>
              <a:rPr lang="en-US" sz="1600" dirty="0" err="1">
                <a:latin typeface="Courier New" panose="02070309020205020404" pitchFamily="49" charset="0"/>
                <a:cs typeface="Courier New" panose="02070309020205020404" pitchFamily="49" charset="0"/>
              </a:rPr>
              <a:t>Total_Sales</a:t>
            </a:r>
            <a:r>
              <a:rPr lang="en-US" sz="1600" dirty="0">
                <a:latin typeface="Courier New" panose="02070309020205020404" pitchFamily="49" charset="0"/>
                <a:cs typeface="Courier New" panose="02070309020205020404" pitchFamily="49" charset="0"/>
              </a:rPr>
              <a:t> ,Gender</a:t>
            </a:r>
          </a:p>
          <a:p>
            <a:pPr>
              <a:lnSpc>
                <a:spcPct val="150000"/>
              </a:lnSpc>
            </a:pPr>
            <a:r>
              <a:rPr lang="en-US" sz="1600" dirty="0">
                <a:latin typeface="Courier New" panose="02070309020205020404" pitchFamily="49" charset="0"/>
                <a:cs typeface="Courier New" panose="02070309020205020404" pitchFamily="49" charset="0"/>
              </a:rPr>
              <a:t>FROM </a:t>
            </a:r>
            <a:r>
              <a:rPr lang="en-US" sz="1600" dirty="0" err="1">
                <a:latin typeface="Courier New" panose="02070309020205020404" pitchFamily="49" charset="0"/>
                <a:cs typeface="Courier New" panose="02070309020205020404" pitchFamily="49" charset="0"/>
              </a:rPr>
              <a:t>Walmartsales_Data</a:t>
            </a:r>
            <a:endParaRPr lang="en-US" sz="1600" dirty="0">
              <a:latin typeface="Courier New" panose="02070309020205020404" pitchFamily="49" charset="0"/>
              <a:cs typeface="Courier New" panose="02070309020205020404" pitchFamily="49" charset="0"/>
            </a:endParaRPr>
          </a:p>
          <a:p>
            <a:pPr>
              <a:lnSpc>
                <a:spcPct val="150000"/>
              </a:lnSpc>
            </a:pPr>
            <a:r>
              <a:rPr lang="en-US" sz="1600" dirty="0">
                <a:latin typeface="Courier New" panose="02070309020205020404" pitchFamily="49" charset="0"/>
                <a:cs typeface="Courier New" panose="02070309020205020404" pitchFamily="49" charset="0"/>
              </a:rPr>
              <a:t>GROUP BY </a:t>
            </a:r>
            <a:r>
              <a:rPr lang="en-US" sz="1600" dirty="0" err="1">
                <a:latin typeface="Courier New" panose="02070309020205020404" pitchFamily="49" charset="0"/>
                <a:cs typeface="Courier New" panose="02070309020205020404" pitchFamily="49" charset="0"/>
              </a:rPr>
              <a:t>SalesMonth</a:t>
            </a:r>
            <a:r>
              <a:rPr lang="en-US" sz="1600" dirty="0">
                <a:latin typeface="Courier New" panose="02070309020205020404" pitchFamily="49" charset="0"/>
                <a:cs typeface="Courier New" panose="02070309020205020404" pitchFamily="49" charset="0"/>
              </a:rPr>
              <a:t>, Gender) AS </a:t>
            </a:r>
            <a:r>
              <a:rPr lang="en-US" sz="1600" dirty="0" err="1">
                <a:latin typeface="Courier New" panose="02070309020205020404" pitchFamily="49" charset="0"/>
                <a:cs typeface="Courier New" panose="02070309020205020404" pitchFamily="49" charset="0"/>
              </a:rPr>
              <a:t>sales_distribution</a:t>
            </a:r>
            <a:endParaRPr lang="en-US" sz="1600" dirty="0">
              <a:latin typeface="Courier New" panose="02070309020205020404" pitchFamily="49" charset="0"/>
              <a:cs typeface="Courier New" panose="02070309020205020404" pitchFamily="49" charset="0"/>
            </a:endParaRPr>
          </a:p>
          <a:p>
            <a:pPr>
              <a:lnSpc>
                <a:spcPct val="150000"/>
              </a:lnSpc>
            </a:pPr>
            <a:r>
              <a:rPr lang="en-US" sz="1600" dirty="0">
                <a:latin typeface="Courier New" panose="02070309020205020404" pitchFamily="49" charset="0"/>
                <a:cs typeface="Courier New" panose="02070309020205020404" pitchFamily="49" charset="0"/>
              </a:rPr>
              <a:t>ORDER BY </a:t>
            </a:r>
            <a:r>
              <a:rPr lang="en-US" sz="1600" dirty="0" err="1">
                <a:latin typeface="Courier New" panose="02070309020205020404" pitchFamily="49" charset="0"/>
                <a:cs typeface="Courier New" panose="02070309020205020404" pitchFamily="49" charset="0"/>
              </a:rPr>
              <a:t>SalesMonth</a:t>
            </a:r>
            <a:r>
              <a:rPr lang="en-US" sz="1600" dirty="0">
                <a:latin typeface="Courier New" panose="02070309020205020404" pitchFamily="49" charset="0"/>
                <a:cs typeface="Courier New" panose="02070309020205020404" pitchFamily="49" charset="0"/>
              </a:rPr>
              <a:t>, Gender;</a:t>
            </a:r>
          </a:p>
        </p:txBody>
      </p:sp>
      <p:pic>
        <p:nvPicPr>
          <p:cNvPr id="9" name="Picture 8">
            <a:extLst>
              <a:ext uri="{FF2B5EF4-FFF2-40B4-BE49-F238E27FC236}">
                <a16:creationId xmlns:a16="http://schemas.microsoft.com/office/drawing/2014/main" id="{55D63F03-D189-4991-A60E-B7CD69E9BD76}"/>
              </a:ext>
            </a:extLst>
          </p:cNvPr>
          <p:cNvPicPr>
            <a:picLocks noChangeAspect="1"/>
          </p:cNvPicPr>
          <p:nvPr/>
        </p:nvPicPr>
        <p:blipFill>
          <a:blip r:embed="rId3"/>
          <a:stretch>
            <a:fillRect/>
          </a:stretch>
        </p:blipFill>
        <p:spPr>
          <a:xfrm>
            <a:off x="2216111" y="4853033"/>
            <a:ext cx="4302675" cy="1816254"/>
          </a:xfrm>
          <a:prstGeom prst="rect">
            <a:avLst/>
          </a:prstGeom>
        </p:spPr>
      </p:pic>
    </p:spTree>
    <p:extLst>
      <p:ext uri="{BB962C8B-B14F-4D97-AF65-F5344CB8AC3E}">
        <p14:creationId xmlns:p14="http://schemas.microsoft.com/office/powerpoint/2010/main" val="2859681845"/>
      </p:ext>
    </p:extLst>
  </p:cSld>
  <p:clrMapOvr>
    <a:masterClrMapping/>
  </p:clrMapOvr>
  <mc:AlternateContent xmlns:mc="http://schemas.openxmlformats.org/markup-compatibility/2006" xmlns:p14="http://schemas.microsoft.com/office/powerpoint/2010/main">
    <mc:Choice Requires="p14">
      <p:transition spd="slow" p14:dur="2000" advTm="19506"/>
    </mc:Choice>
    <mc:Fallback xmlns="">
      <p:transition spd="slow" advTm="1950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524371-E358-4435-B3FF-D226C6173B62}"/>
              </a:ext>
            </a:extLst>
          </p:cNvPr>
          <p:cNvPicPr>
            <a:picLocks noChangeAspect="1"/>
          </p:cNvPicPr>
          <p:nvPr/>
        </p:nvPicPr>
        <p:blipFill>
          <a:blip r:embed="rId2"/>
          <a:stretch>
            <a:fillRect/>
          </a:stretch>
        </p:blipFill>
        <p:spPr>
          <a:xfrm>
            <a:off x="6772275" y="0"/>
            <a:ext cx="2371725" cy="1304925"/>
          </a:xfrm>
          <a:prstGeom prst="rect">
            <a:avLst/>
          </a:prstGeom>
        </p:spPr>
      </p:pic>
      <p:graphicFrame>
        <p:nvGraphicFramePr>
          <p:cNvPr id="3" name="Table 2">
            <a:extLst>
              <a:ext uri="{FF2B5EF4-FFF2-40B4-BE49-F238E27FC236}">
                <a16:creationId xmlns:a16="http://schemas.microsoft.com/office/drawing/2014/main" id="{F724E629-D578-4DAC-969C-95C547C5B853}"/>
              </a:ext>
            </a:extLst>
          </p:cNvPr>
          <p:cNvGraphicFramePr>
            <a:graphicFrameLocks noGrp="1"/>
          </p:cNvGraphicFramePr>
          <p:nvPr>
            <p:extLst>
              <p:ext uri="{D42A27DB-BD31-4B8C-83A1-F6EECF244321}">
                <p14:modId xmlns:p14="http://schemas.microsoft.com/office/powerpoint/2010/main" val="2774696909"/>
              </p:ext>
            </p:extLst>
          </p:nvPr>
        </p:nvGraphicFramePr>
        <p:xfrm>
          <a:off x="6302477" y="1189703"/>
          <a:ext cx="2761942" cy="2775192"/>
        </p:xfrm>
        <a:graphic>
          <a:graphicData uri="http://schemas.openxmlformats.org/drawingml/2006/table">
            <a:tbl>
              <a:tblPr>
                <a:tableStyleId>{5C22544A-7EE6-4342-B048-85BDC9FD1C3A}</a:tableStyleId>
              </a:tblPr>
              <a:tblGrid>
                <a:gridCol w="1152221">
                  <a:extLst>
                    <a:ext uri="{9D8B030D-6E8A-4147-A177-3AD203B41FA5}">
                      <a16:colId xmlns:a16="http://schemas.microsoft.com/office/drawing/2014/main" val="301176912"/>
                    </a:ext>
                  </a:extLst>
                </a:gridCol>
                <a:gridCol w="1609721">
                  <a:extLst>
                    <a:ext uri="{9D8B030D-6E8A-4147-A177-3AD203B41FA5}">
                      <a16:colId xmlns:a16="http://schemas.microsoft.com/office/drawing/2014/main" val="3820371367"/>
                    </a:ext>
                  </a:extLst>
                </a:gridCol>
              </a:tblGrid>
              <a:tr h="230887">
                <a:tc>
                  <a:txBody>
                    <a:bodyPr/>
                    <a:lstStyle/>
                    <a:p>
                      <a:pPr algn="l" fontAlgn="b"/>
                      <a:r>
                        <a:rPr lang="en-US" sz="1100" u="none" strike="noStrike" dirty="0">
                          <a:effectLst/>
                        </a:rPr>
                        <a:t>Year</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dirty="0">
                          <a:effectLst/>
                        </a:rPr>
                        <a:t>Sum of  </a:t>
                      </a:r>
                      <a:r>
                        <a:rPr lang="en-US" sz="1100" u="none" strike="noStrike" dirty="0" err="1">
                          <a:effectLst/>
                        </a:rPr>
                        <a:t>Total_Sales</a:t>
                      </a:r>
                      <a:endParaRPr lang="en-US" sz="11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34934279"/>
                  </a:ext>
                </a:extLst>
              </a:tr>
              <a:tr h="255842">
                <a:tc>
                  <a:txBody>
                    <a:bodyPr/>
                    <a:lstStyle/>
                    <a:p>
                      <a:pPr algn="l" fontAlgn="b"/>
                      <a:r>
                        <a:rPr lang="en-US" sz="1100" u="none" strike="noStrike">
                          <a:effectLst/>
                        </a:rPr>
                        <a:t>2020-01</a:t>
                      </a:r>
                      <a:endParaRPr lang="en-US" sz="1100" b="1"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116291.868</a:t>
                      </a:r>
                      <a:endParaRPr lang="en-US" sz="1100" b="1"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79024497"/>
                  </a:ext>
                </a:extLst>
              </a:tr>
              <a:tr h="255842">
                <a:tc>
                  <a:txBody>
                    <a:bodyPr/>
                    <a:lstStyle/>
                    <a:p>
                      <a:pPr algn="l" fontAlgn="b"/>
                      <a:r>
                        <a:rPr lang="en-US" sz="1100" u="none" strike="noStrike">
                          <a:effectLst/>
                        </a:rPr>
                        <a:t> Female</a:t>
                      </a:r>
                      <a:endParaRPr lang="en-US" sz="1100" b="0" i="0" u="none" strike="noStrike">
                        <a:solidFill>
                          <a:srgbClr val="000000"/>
                        </a:solidFill>
                        <a:effectLst/>
                        <a:latin typeface="Calibri" panose="020F0502020204030204" pitchFamily="34" charset="0"/>
                      </a:endParaRPr>
                    </a:p>
                  </a:txBody>
                  <a:tcPr marL="95250" marR="6350" marT="6350" marB="0" anchor="b"/>
                </a:tc>
                <a:tc>
                  <a:txBody>
                    <a:bodyPr/>
                    <a:lstStyle/>
                    <a:p>
                      <a:pPr algn="r" fontAlgn="b"/>
                      <a:r>
                        <a:rPr lang="en-US" sz="1100" u="none" strike="noStrike">
                          <a:effectLst/>
                        </a:rPr>
                        <a:t>59138.982</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131797555"/>
                  </a:ext>
                </a:extLst>
              </a:tr>
              <a:tr h="255842">
                <a:tc>
                  <a:txBody>
                    <a:bodyPr/>
                    <a:lstStyle/>
                    <a:p>
                      <a:pPr algn="l" fontAlgn="b"/>
                      <a:r>
                        <a:rPr lang="en-US" sz="1100" u="none" strike="noStrike">
                          <a:effectLst/>
                        </a:rPr>
                        <a:t> Male</a:t>
                      </a:r>
                      <a:endParaRPr lang="en-US" sz="1100" b="0" i="0" u="none" strike="noStrike">
                        <a:solidFill>
                          <a:srgbClr val="000000"/>
                        </a:solidFill>
                        <a:effectLst/>
                        <a:latin typeface="Calibri" panose="020F0502020204030204" pitchFamily="34" charset="0"/>
                      </a:endParaRPr>
                    </a:p>
                  </a:txBody>
                  <a:tcPr marL="95250" marR="6350" marT="6350" marB="0" anchor="b"/>
                </a:tc>
                <a:tc>
                  <a:txBody>
                    <a:bodyPr/>
                    <a:lstStyle/>
                    <a:p>
                      <a:pPr algn="r" fontAlgn="b"/>
                      <a:r>
                        <a:rPr lang="en-US" sz="1100" u="none" strike="noStrike">
                          <a:effectLst/>
                        </a:rPr>
                        <a:t>57152.886</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656358086"/>
                  </a:ext>
                </a:extLst>
              </a:tr>
              <a:tr h="241727">
                <a:tc>
                  <a:txBody>
                    <a:bodyPr/>
                    <a:lstStyle/>
                    <a:p>
                      <a:pPr algn="l" fontAlgn="b"/>
                      <a:r>
                        <a:rPr lang="en-US" sz="1100" u="none" strike="noStrike">
                          <a:effectLst/>
                        </a:rPr>
                        <a:t>2020-02</a:t>
                      </a:r>
                      <a:endParaRPr lang="en-US" sz="1100" b="1"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97219.374</a:t>
                      </a:r>
                      <a:endParaRPr lang="en-US" sz="1100" b="1"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964639569"/>
                  </a:ext>
                </a:extLst>
              </a:tr>
              <a:tr h="255842">
                <a:tc>
                  <a:txBody>
                    <a:bodyPr/>
                    <a:lstStyle/>
                    <a:p>
                      <a:pPr algn="l" fontAlgn="b"/>
                      <a:r>
                        <a:rPr lang="en-US" sz="1100" u="none" strike="noStrike">
                          <a:effectLst/>
                        </a:rPr>
                        <a:t> Female</a:t>
                      </a:r>
                      <a:endParaRPr lang="en-US" sz="1100" b="0" i="0" u="none" strike="noStrike">
                        <a:solidFill>
                          <a:srgbClr val="000000"/>
                        </a:solidFill>
                        <a:effectLst/>
                        <a:latin typeface="Calibri" panose="020F0502020204030204" pitchFamily="34" charset="0"/>
                      </a:endParaRPr>
                    </a:p>
                  </a:txBody>
                  <a:tcPr marL="95250" marR="6350" marT="6350" marB="0" anchor="b"/>
                </a:tc>
                <a:tc>
                  <a:txBody>
                    <a:bodyPr/>
                    <a:lstStyle/>
                    <a:p>
                      <a:pPr algn="r" fontAlgn="b"/>
                      <a:r>
                        <a:rPr lang="en-US" sz="1100" u="none" strike="noStrike">
                          <a:effectLst/>
                        </a:rPr>
                        <a:t>56335.5555</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64081257"/>
                  </a:ext>
                </a:extLst>
              </a:tr>
              <a:tr h="255842">
                <a:tc>
                  <a:txBody>
                    <a:bodyPr/>
                    <a:lstStyle/>
                    <a:p>
                      <a:pPr algn="l" fontAlgn="b"/>
                      <a:r>
                        <a:rPr lang="en-US" sz="1100" u="none" strike="noStrike">
                          <a:effectLst/>
                        </a:rPr>
                        <a:t> Male</a:t>
                      </a:r>
                      <a:endParaRPr lang="en-US" sz="1100" b="0" i="0" u="none" strike="noStrike">
                        <a:solidFill>
                          <a:srgbClr val="000000"/>
                        </a:solidFill>
                        <a:effectLst/>
                        <a:latin typeface="Calibri" panose="020F0502020204030204" pitchFamily="34" charset="0"/>
                      </a:endParaRPr>
                    </a:p>
                  </a:txBody>
                  <a:tcPr marL="95250" marR="6350" marT="6350" marB="0" anchor="b"/>
                </a:tc>
                <a:tc>
                  <a:txBody>
                    <a:bodyPr/>
                    <a:lstStyle/>
                    <a:p>
                      <a:pPr algn="r" fontAlgn="b"/>
                      <a:r>
                        <a:rPr lang="en-US" sz="1100" u="none" strike="noStrike">
                          <a:effectLst/>
                        </a:rPr>
                        <a:t>40883.8185</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294774164"/>
                  </a:ext>
                </a:extLst>
              </a:tr>
              <a:tr h="255842">
                <a:tc>
                  <a:txBody>
                    <a:bodyPr/>
                    <a:lstStyle/>
                    <a:p>
                      <a:pPr algn="l" fontAlgn="b"/>
                      <a:r>
                        <a:rPr lang="en-US" sz="1100" u="none" strike="noStrike">
                          <a:effectLst/>
                        </a:rPr>
                        <a:t>2020-03</a:t>
                      </a:r>
                      <a:endParaRPr lang="en-US" sz="1100" b="1"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109455.507</a:t>
                      </a:r>
                      <a:endParaRPr lang="en-US" sz="1100" b="1"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062503130"/>
                  </a:ext>
                </a:extLst>
              </a:tr>
              <a:tr h="255842">
                <a:tc>
                  <a:txBody>
                    <a:bodyPr/>
                    <a:lstStyle/>
                    <a:p>
                      <a:pPr algn="l" fontAlgn="b"/>
                      <a:r>
                        <a:rPr lang="en-US" sz="1100" u="none" strike="noStrike">
                          <a:effectLst/>
                        </a:rPr>
                        <a:t> Female</a:t>
                      </a:r>
                      <a:endParaRPr lang="en-US" sz="1100" b="0" i="0" u="none" strike="noStrike">
                        <a:solidFill>
                          <a:srgbClr val="000000"/>
                        </a:solidFill>
                        <a:effectLst/>
                        <a:latin typeface="Calibri" panose="020F0502020204030204" pitchFamily="34" charset="0"/>
                      </a:endParaRPr>
                    </a:p>
                  </a:txBody>
                  <a:tcPr marL="95250" marR="6350" marT="6350" marB="0" anchor="b"/>
                </a:tc>
                <a:tc>
                  <a:txBody>
                    <a:bodyPr/>
                    <a:lstStyle/>
                    <a:p>
                      <a:pPr algn="r" fontAlgn="b"/>
                      <a:r>
                        <a:rPr lang="en-US" sz="1100" u="none" strike="noStrike">
                          <a:effectLst/>
                        </a:rPr>
                        <a:t>52408.3875</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692623095"/>
                  </a:ext>
                </a:extLst>
              </a:tr>
              <a:tr h="255842">
                <a:tc>
                  <a:txBody>
                    <a:bodyPr/>
                    <a:lstStyle/>
                    <a:p>
                      <a:pPr algn="l" fontAlgn="b"/>
                      <a:r>
                        <a:rPr lang="en-US" sz="1100" u="none" strike="noStrike">
                          <a:effectLst/>
                        </a:rPr>
                        <a:t> Male</a:t>
                      </a:r>
                      <a:endParaRPr lang="en-US" sz="1100" b="0" i="0" u="none" strike="noStrike">
                        <a:solidFill>
                          <a:srgbClr val="000000"/>
                        </a:solidFill>
                        <a:effectLst/>
                        <a:latin typeface="Calibri" panose="020F0502020204030204" pitchFamily="34" charset="0"/>
                      </a:endParaRPr>
                    </a:p>
                  </a:txBody>
                  <a:tcPr marL="95250" marR="6350" marT="6350" marB="0" anchor="b"/>
                </a:tc>
                <a:tc>
                  <a:txBody>
                    <a:bodyPr/>
                    <a:lstStyle/>
                    <a:p>
                      <a:pPr algn="r" fontAlgn="b"/>
                      <a:r>
                        <a:rPr lang="en-US" sz="1100" u="none" strike="noStrike">
                          <a:effectLst/>
                        </a:rPr>
                        <a:t>57047.1195</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65341565"/>
                  </a:ext>
                </a:extLst>
              </a:tr>
              <a:tr h="255842">
                <a:tc>
                  <a:txBody>
                    <a:bodyPr/>
                    <a:lstStyle/>
                    <a:p>
                      <a:pPr algn="l" fontAlgn="b"/>
                      <a:r>
                        <a:rPr lang="en-US" sz="1100" u="none" strike="noStrike">
                          <a:effectLst/>
                        </a:rPr>
                        <a:t>Grand Total</a:t>
                      </a:r>
                      <a:endParaRPr lang="en-US" sz="1100" b="1"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dirty="0">
                          <a:effectLst/>
                        </a:rPr>
                        <a:t>322966.749</a:t>
                      </a:r>
                      <a:endParaRPr lang="en-US" sz="11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497209137"/>
                  </a:ext>
                </a:extLst>
              </a:tr>
            </a:tbl>
          </a:graphicData>
        </a:graphic>
      </p:graphicFrame>
      <p:graphicFrame>
        <p:nvGraphicFramePr>
          <p:cNvPr id="4" name="Chart 3">
            <a:extLst>
              <a:ext uri="{FF2B5EF4-FFF2-40B4-BE49-F238E27FC236}">
                <a16:creationId xmlns:a16="http://schemas.microsoft.com/office/drawing/2014/main" id="{7A7B7DE7-A444-4BB1-822E-790F884E9CAA}"/>
              </a:ext>
            </a:extLst>
          </p:cNvPr>
          <p:cNvGraphicFramePr>
            <a:graphicFrameLocks/>
          </p:cNvGraphicFramePr>
          <p:nvPr>
            <p:extLst>
              <p:ext uri="{D42A27DB-BD31-4B8C-83A1-F6EECF244321}">
                <p14:modId xmlns:p14="http://schemas.microsoft.com/office/powerpoint/2010/main" val="1342157315"/>
              </p:ext>
            </p:extLst>
          </p:nvPr>
        </p:nvGraphicFramePr>
        <p:xfrm>
          <a:off x="270794" y="1034863"/>
          <a:ext cx="5952102" cy="3084872"/>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1">
            <a:extLst>
              <a:ext uri="{FF2B5EF4-FFF2-40B4-BE49-F238E27FC236}">
                <a16:creationId xmlns:a16="http://schemas.microsoft.com/office/drawing/2014/main" id="{1FD42E0E-CCC8-4A2E-923D-D070F71FBF18}"/>
              </a:ext>
            </a:extLst>
          </p:cNvPr>
          <p:cNvSpPr>
            <a:spLocks noChangeArrowheads="1"/>
          </p:cNvSpPr>
          <p:nvPr/>
        </p:nvSpPr>
        <p:spPr bwMode="auto">
          <a:xfrm>
            <a:off x="445575" y="5467205"/>
            <a:ext cx="82528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Insights and Suggestions: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It provides insight into gender-based purchasing patterns across months, enabling targeted campaigns and gender-sensitive promotions.</a:t>
            </a:r>
          </a:p>
        </p:txBody>
      </p:sp>
      <p:sp>
        <p:nvSpPr>
          <p:cNvPr id="7" name="TextBox 6">
            <a:extLst>
              <a:ext uri="{FF2B5EF4-FFF2-40B4-BE49-F238E27FC236}">
                <a16:creationId xmlns:a16="http://schemas.microsoft.com/office/drawing/2014/main" id="{8E196011-58F7-4DE8-AD77-AA72D5E56F5E}"/>
              </a:ext>
            </a:extLst>
          </p:cNvPr>
          <p:cNvSpPr txBox="1"/>
          <p:nvPr/>
        </p:nvSpPr>
        <p:spPr>
          <a:xfrm>
            <a:off x="589012" y="4224558"/>
            <a:ext cx="8475407" cy="646331"/>
          </a:xfrm>
          <a:prstGeom prst="rect">
            <a:avLst/>
          </a:prstGeom>
          <a:noFill/>
        </p:spPr>
        <p:txBody>
          <a:bodyPr wrap="square" rtlCol="0">
            <a:spAutoFit/>
          </a:bodyPr>
          <a:lstStyle/>
          <a:p>
            <a:r>
              <a:rPr lang="en-US" dirty="0"/>
              <a:t>This analysis shows how monthly sales are split between male and female customers.</a:t>
            </a:r>
          </a:p>
          <a:p>
            <a:endParaRPr lang="en-US" dirty="0"/>
          </a:p>
        </p:txBody>
      </p:sp>
    </p:spTree>
    <p:extLst>
      <p:ext uri="{BB962C8B-B14F-4D97-AF65-F5344CB8AC3E}">
        <p14:creationId xmlns:p14="http://schemas.microsoft.com/office/powerpoint/2010/main" val="3735204990"/>
      </p:ext>
    </p:extLst>
  </p:cSld>
  <p:clrMapOvr>
    <a:masterClrMapping/>
  </p:clrMapOvr>
  <mc:AlternateContent xmlns:mc="http://schemas.openxmlformats.org/markup-compatibility/2006" xmlns:p14="http://schemas.microsoft.com/office/powerpoint/2010/main">
    <mc:Choice Requires="p14">
      <p:transition spd="slow" p14:dur="2000" advTm="13148"/>
    </mc:Choice>
    <mc:Fallback xmlns="">
      <p:transition spd="slow" advTm="1314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B14802-302D-4B5F-97AB-4557F0A7AD53}"/>
              </a:ext>
            </a:extLst>
          </p:cNvPr>
          <p:cNvPicPr>
            <a:picLocks noChangeAspect="1"/>
          </p:cNvPicPr>
          <p:nvPr/>
        </p:nvPicPr>
        <p:blipFill>
          <a:blip r:embed="rId2"/>
          <a:stretch>
            <a:fillRect/>
          </a:stretch>
        </p:blipFill>
        <p:spPr>
          <a:xfrm>
            <a:off x="6772275" y="0"/>
            <a:ext cx="2371725" cy="1304925"/>
          </a:xfrm>
          <a:prstGeom prst="rect">
            <a:avLst/>
          </a:prstGeom>
        </p:spPr>
      </p:pic>
      <p:sp>
        <p:nvSpPr>
          <p:cNvPr id="3" name="TextBox 2">
            <a:extLst>
              <a:ext uri="{FF2B5EF4-FFF2-40B4-BE49-F238E27FC236}">
                <a16:creationId xmlns:a16="http://schemas.microsoft.com/office/drawing/2014/main" id="{1917D6FE-1A77-4992-BC45-C48FB2A1F385}"/>
              </a:ext>
            </a:extLst>
          </p:cNvPr>
          <p:cNvSpPr txBox="1"/>
          <p:nvPr/>
        </p:nvSpPr>
        <p:spPr>
          <a:xfrm>
            <a:off x="481781" y="869100"/>
            <a:ext cx="8298425" cy="523220"/>
          </a:xfrm>
          <a:prstGeom prst="rect">
            <a:avLst/>
          </a:prstGeom>
          <a:noFill/>
        </p:spPr>
        <p:txBody>
          <a:bodyPr wrap="square" rtlCol="0">
            <a:spAutoFit/>
          </a:bodyPr>
          <a:lstStyle/>
          <a:p>
            <a:r>
              <a:rPr lang="en-US" sz="2800" b="1" dirty="0"/>
              <a:t>Task 7: Best Product Line by Customer Type</a:t>
            </a:r>
          </a:p>
        </p:txBody>
      </p:sp>
      <p:sp>
        <p:nvSpPr>
          <p:cNvPr id="4" name="TextBox 3">
            <a:extLst>
              <a:ext uri="{FF2B5EF4-FFF2-40B4-BE49-F238E27FC236}">
                <a16:creationId xmlns:a16="http://schemas.microsoft.com/office/drawing/2014/main" id="{36AD8D50-E62E-42E6-9A22-38535FCDAA94}"/>
              </a:ext>
            </a:extLst>
          </p:cNvPr>
          <p:cNvSpPr txBox="1"/>
          <p:nvPr/>
        </p:nvSpPr>
        <p:spPr>
          <a:xfrm>
            <a:off x="481781" y="1759974"/>
            <a:ext cx="8298425" cy="646331"/>
          </a:xfrm>
          <a:prstGeom prst="rect">
            <a:avLst/>
          </a:prstGeom>
          <a:noFill/>
        </p:spPr>
        <p:txBody>
          <a:bodyPr wrap="square" rtlCol="0">
            <a:spAutoFit/>
          </a:bodyPr>
          <a:lstStyle/>
          <a:p>
            <a:r>
              <a:rPr lang="en-US" b="1" dirty="0"/>
              <a:t>Approach : We will use Group By and Windows function to find out the best Product Line By Customer Type.</a:t>
            </a:r>
          </a:p>
        </p:txBody>
      </p:sp>
      <p:sp>
        <p:nvSpPr>
          <p:cNvPr id="5" name="TextBox 4">
            <a:extLst>
              <a:ext uri="{FF2B5EF4-FFF2-40B4-BE49-F238E27FC236}">
                <a16:creationId xmlns:a16="http://schemas.microsoft.com/office/drawing/2014/main" id="{2D38BEDC-3E25-4105-9100-27B66AF85514}"/>
              </a:ext>
            </a:extLst>
          </p:cNvPr>
          <p:cNvSpPr txBox="1"/>
          <p:nvPr/>
        </p:nvSpPr>
        <p:spPr>
          <a:xfrm>
            <a:off x="530941" y="2605548"/>
            <a:ext cx="8200103" cy="2554545"/>
          </a:xfrm>
          <a:prstGeom prst="rect">
            <a:avLst/>
          </a:prstGeom>
          <a:noFill/>
        </p:spPr>
        <p:txBody>
          <a:bodyPr wrap="square" rtlCol="0">
            <a:spAutoFit/>
          </a:bodyPr>
          <a:lstStyle/>
          <a:p>
            <a:r>
              <a:rPr lang="en-US" sz="1600" dirty="0">
                <a:latin typeface="Courier New" panose="02070309020205020404" pitchFamily="49" charset="0"/>
                <a:cs typeface="Courier New" panose="02070309020205020404" pitchFamily="49" charset="0"/>
              </a:rPr>
              <a:t>SELECT * FROM (</a:t>
            </a:r>
          </a:p>
          <a:p>
            <a:r>
              <a:rPr lang="en-US" sz="1600" dirty="0">
                <a:latin typeface="Courier New" panose="02070309020205020404" pitchFamily="49" charset="0"/>
                <a:cs typeface="Courier New" panose="02070309020205020404" pitchFamily="49" charset="0"/>
              </a:rPr>
              <a:t>SELECT `Customer type`, `Product line`, SUM(`Total`) AS </a:t>
            </a:r>
            <a:r>
              <a:rPr lang="en-US" sz="1600" dirty="0" err="1">
                <a:latin typeface="Courier New" panose="02070309020205020404" pitchFamily="49" charset="0"/>
                <a:cs typeface="Courier New" panose="02070309020205020404" pitchFamily="49" charset="0"/>
              </a:rPr>
              <a:t>Total_Sales</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RANK() OVER (PARTITION BY `Customer type` ORDER BY SUM(`Total`) DESC) </a:t>
            </a:r>
          </a:p>
          <a:p>
            <a:r>
              <a:rPr lang="en-US" sz="1600" dirty="0">
                <a:latin typeface="Courier New" panose="02070309020205020404" pitchFamily="49" charset="0"/>
                <a:cs typeface="Courier New" panose="02070309020205020404" pitchFamily="49" charset="0"/>
              </a:rPr>
              <a:t>AS </a:t>
            </a:r>
            <a:r>
              <a:rPr lang="en-US" sz="1600" dirty="0" err="1">
                <a:latin typeface="Courier New" panose="02070309020205020404" pitchFamily="49" charset="0"/>
                <a:cs typeface="Courier New" panose="02070309020205020404" pitchFamily="49" charset="0"/>
              </a:rPr>
              <a:t>Top_Product</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From Walmartsales_data</a:t>
            </a:r>
          </a:p>
          <a:p>
            <a:r>
              <a:rPr lang="en-US" sz="1600" dirty="0">
                <a:latin typeface="Courier New" panose="02070309020205020404" pitchFamily="49" charset="0"/>
                <a:cs typeface="Courier New" panose="02070309020205020404" pitchFamily="49" charset="0"/>
              </a:rPr>
              <a:t>GROUP BY `Customer type`, `Product line`) AS </a:t>
            </a:r>
            <a:r>
              <a:rPr lang="en-US" sz="1600" dirty="0" err="1">
                <a:latin typeface="Courier New" panose="02070309020205020404" pitchFamily="49" charset="0"/>
                <a:cs typeface="Courier New" panose="02070309020205020404" pitchFamily="49" charset="0"/>
              </a:rPr>
              <a:t>Best_Product_Line</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WHERE </a:t>
            </a:r>
            <a:r>
              <a:rPr lang="en-US" sz="1600" dirty="0" err="1">
                <a:latin typeface="Courier New" panose="02070309020205020404" pitchFamily="49" charset="0"/>
                <a:cs typeface="Courier New" panose="02070309020205020404" pitchFamily="49" charset="0"/>
              </a:rPr>
              <a:t>Top_Product</a:t>
            </a:r>
            <a:r>
              <a:rPr lang="en-US" sz="1600" dirty="0">
                <a:latin typeface="Courier New" panose="02070309020205020404" pitchFamily="49" charset="0"/>
                <a:cs typeface="Courier New" panose="02070309020205020404" pitchFamily="49" charset="0"/>
              </a:rPr>
              <a:t> = 1</a:t>
            </a:r>
          </a:p>
          <a:p>
            <a:r>
              <a:rPr lang="en-US" sz="1600" dirty="0">
                <a:latin typeface="Courier New" panose="02070309020205020404" pitchFamily="49" charset="0"/>
                <a:cs typeface="Courier New" panose="02070309020205020404" pitchFamily="49" charset="0"/>
              </a:rPr>
              <a:t>ORDER BY `Customer type`;</a:t>
            </a:r>
          </a:p>
        </p:txBody>
      </p:sp>
      <p:pic>
        <p:nvPicPr>
          <p:cNvPr id="6" name="Picture 5">
            <a:extLst>
              <a:ext uri="{FF2B5EF4-FFF2-40B4-BE49-F238E27FC236}">
                <a16:creationId xmlns:a16="http://schemas.microsoft.com/office/drawing/2014/main" id="{92C9C8F8-B302-4EDF-8E7F-A019CF9D9393}"/>
              </a:ext>
            </a:extLst>
          </p:cNvPr>
          <p:cNvPicPr>
            <a:picLocks noChangeAspect="1"/>
          </p:cNvPicPr>
          <p:nvPr/>
        </p:nvPicPr>
        <p:blipFill>
          <a:blip r:embed="rId3"/>
          <a:stretch>
            <a:fillRect/>
          </a:stretch>
        </p:blipFill>
        <p:spPr>
          <a:xfrm>
            <a:off x="1112761" y="5493531"/>
            <a:ext cx="6230219" cy="990738"/>
          </a:xfrm>
          <a:prstGeom prst="rect">
            <a:avLst/>
          </a:prstGeom>
        </p:spPr>
      </p:pic>
    </p:spTree>
    <p:extLst>
      <p:ext uri="{BB962C8B-B14F-4D97-AF65-F5344CB8AC3E}">
        <p14:creationId xmlns:p14="http://schemas.microsoft.com/office/powerpoint/2010/main" val="872536005"/>
      </p:ext>
    </p:extLst>
  </p:cSld>
  <p:clrMapOvr>
    <a:masterClrMapping/>
  </p:clrMapOvr>
  <mc:AlternateContent xmlns:mc="http://schemas.openxmlformats.org/markup-compatibility/2006" xmlns:p14="http://schemas.microsoft.com/office/powerpoint/2010/main">
    <mc:Choice Requires="p14">
      <p:transition spd="slow" p14:dur="2000" advTm="14763"/>
    </mc:Choice>
    <mc:Fallback xmlns="">
      <p:transition spd="slow" advTm="1476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1F3DB6-2E6F-48B8-B62F-A68EAB985EE6}"/>
              </a:ext>
            </a:extLst>
          </p:cNvPr>
          <p:cNvPicPr>
            <a:picLocks noChangeAspect="1"/>
          </p:cNvPicPr>
          <p:nvPr/>
        </p:nvPicPr>
        <p:blipFill>
          <a:blip r:embed="rId2"/>
          <a:stretch>
            <a:fillRect/>
          </a:stretch>
        </p:blipFill>
        <p:spPr>
          <a:xfrm>
            <a:off x="6772275" y="0"/>
            <a:ext cx="2371725" cy="1304925"/>
          </a:xfrm>
          <a:prstGeom prst="rect">
            <a:avLst/>
          </a:prstGeom>
        </p:spPr>
      </p:pic>
      <p:graphicFrame>
        <p:nvGraphicFramePr>
          <p:cNvPr id="3" name="Table 2">
            <a:extLst>
              <a:ext uri="{FF2B5EF4-FFF2-40B4-BE49-F238E27FC236}">
                <a16:creationId xmlns:a16="http://schemas.microsoft.com/office/drawing/2014/main" id="{6F957AFE-F46D-4564-BBC4-A8B99525EB03}"/>
              </a:ext>
            </a:extLst>
          </p:cNvPr>
          <p:cNvGraphicFramePr>
            <a:graphicFrameLocks noGrp="1"/>
          </p:cNvGraphicFramePr>
          <p:nvPr>
            <p:extLst>
              <p:ext uri="{D42A27DB-BD31-4B8C-83A1-F6EECF244321}">
                <p14:modId xmlns:p14="http://schemas.microsoft.com/office/powerpoint/2010/main" val="3866952772"/>
              </p:ext>
            </p:extLst>
          </p:nvPr>
        </p:nvGraphicFramePr>
        <p:xfrm>
          <a:off x="285135" y="4185777"/>
          <a:ext cx="3597991" cy="1467771"/>
        </p:xfrm>
        <a:graphic>
          <a:graphicData uri="http://schemas.openxmlformats.org/drawingml/2006/table">
            <a:tbl>
              <a:tblPr>
                <a:tableStyleId>{5C22544A-7EE6-4342-B048-85BDC9FD1C3A}</a:tableStyleId>
              </a:tblPr>
              <a:tblGrid>
                <a:gridCol w="891538">
                  <a:extLst>
                    <a:ext uri="{9D8B030D-6E8A-4147-A177-3AD203B41FA5}">
                      <a16:colId xmlns:a16="http://schemas.microsoft.com/office/drawing/2014/main" val="438196973"/>
                    </a:ext>
                  </a:extLst>
                </a:gridCol>
                <a:gridCol w="1135649">
                  <a:extLst>
                    <a:ext uri="{9D8B030D-6E8A-4147-A177-3AD203B41FA5}">
                      <a16:colId xmlns:a16="http://schemas.microsoft.com/office/drawing/2014/main" val="1948134620"/>
                    </a:ext>
                  </a:extLst>
                </a:gridCol>
                <a:gridCol w="742948">
                  <a:extLst>
                    <a:ext uri="{9D8B030D-6E8A-4147-A177-3AD203B41FA5}">
                      <a16:colId xmlns:a16="http://schemas.microsoft.com/office/drawing/2014/main" val="983233296"/>
                    </a:ext>
                  </a:extLst>
                </a:gridCol>
                <a:gridCol w="827856">
                  <a:extLst>
                    <a:ext uri="{9D8B030D-6E8A-4147-A177-3AD203B41FA5}">
                      <a16:colId xmlns:a16="http://schemas.microsoft.com/office/drawing/2014/main" val="2740808064"/>
                    </a:ext>
                  </a:extLst>
                </a:gridCol>
              </a:tblGrid>
              <a:tr h="489257">
                <a:tc>
                  <a:txBody>
                    <a:bodyPr/>
                    <a:lstStyle/>
                    <a:p>
                      <a:pPr algn="l" fontAlgn="b"/>
                      <a:r>
                        <a:rPr lang="en-US" sz="1100" u="none" strike="noStrike">
                          <a:effectLst/>
                        </a:rPr>
                        <a:t>Customer type</a:t>
                      </a:r>
                      <a:endParaRPr lang="en-US" sz="1100" b="1" i="0" u="none" strike="noStrike">
                        <a:solidFill>
                          <a:srgbClr val="FFFFFF"/>
                        </a:solidFill>
                        <a:effectLst/>
                        <a:latin typeface="Calibri" panose="020F0502020204030204" pitchFamily="34" charset="0"/>
                      </a:endParaRPr>
                    </a:p>
                  </a:txBody>
                  <a:tcPr marL="6350" marR="6350" marT="6350" marB="0" anchor="b"/>
                </a:tc>
                <a:tc>
                  <a:txBody>
                    <a:bodyPr/>
                    <a:lstStyle/>
                    <a:p>
                      <a:pPr algn="l" fontAlgn="b"/>
                      <a:r>
                        <a:rPr lang="en-US" sz="1100" u="none" strike="noStrike" dirty="0">
                          <a:effectLst/>
                        </a:rPr>
                        <a:t> Product line</a:t>
                      </a:r>
                      <a:endParaRPr lang="en-US" sz="1100" b="1"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Total_Sales</a:t>
                      </a:r>
                      <a:endParaRPr lang="en-US" sz="1100" b="1" i="0" u="none" strike="noStrike">
                        <a:solidFill>
                          <a:srgbClr val="FFFFFF"/>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Top_Product</a:t>
                      </a:r>
                      <a:endParaRPr lang="en-US" sz="1100" b="1" i="0" u="none" strike="noStrike">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35937847"/>
                  </a:ext>
                </a:extLst>
              </a:tr>
              <a:tr h="489257">
                <a:tc>
                  <a:txBody>
                    <a:bodyPr/>
                    <a:lstStyle/>
                    <a:p>
                      <a:pPr algn="l" fontAlgn="b"/>
                      <a:r>
                        <a:rPr lang="en-US" sz="1100" u="none" strike="noStrike">
                          <a:effectLst/>
                        </a:rPr>
                        <a:t>Member</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Food and beverages</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31357.62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983063492"/>
                  </a:ext>
                </a:extLst>
              </a:tr>
              <a:tr h="489257">
                <a:tc>
                  <a:txBody>
                    <a:bodyPr/>
                    <a:lstStyle/>
                    <a:p>
                      <a:pPr algn="l" fontAlgn="b"/>
                      <a:r>
                        <a:rPr lang="en-US" sz="1100" u="none" strike="noStrike">
                          <a:effectLst/>
                        </a:rPr>
                        <a:t>Normal</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dirty="0">
                          <a:effectLst/>
                        </a:rPr>
                        <a:t> Electronic accessories</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29839.0365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720005031"/>
                  </a:ext>
                </a:extLst>
              </a:tr>
            </a:tbl>
          </a:graphicData>
        </a:graphic>
      </p:graphicFrame>
      <p:graphicFrame>
        <p:nvGraphicFramePr>
          <p:cNvPr id="4" name="Chart 3">
            <a:extLst>
              <a:ext uri="{FF2B5EF4-FFF2-40B4-BE49-F238E27FC236}">
                <a16:creationId xmlns:a16="http://schemas.microsoft.com/office/drawing/2014/main" id="{5C608FC5-13DB-40C2-BDE0-DB79D8B30BEE}"/>
              </a:ext>
            </a:extLst>
          </p:cNvPr>
          <p:cNvGraphicFramePr>
            <a:graphicFrameLocks/>
          </p:cNvGraphicFramePr>
          <p:nvPr>
            <p:extLst>
              <p:ext uri="{D42A27DB-BD31-4B8C-83A1-F6EECF244321}">
                <p14:modId xmlns:p14="http://schemas.microsoft.com/office/powerpoint/2010/main" val="2815073860"/>
              </p:ext>
            </p:extLst>
          </p:nvPr>
        </p:nvGraphicFramePr>
        <p:xfrm>
          <a:off x="285135" y="439994"/>
          <a:ext cx="6302478" cy="32766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1">
            <a:extLst>
              <a:ext uri="{FF2B5EF4-FFF2-40B4-BE49-F238E27FC236}">
                <a16:creationId xmlns:a16="http://schemas.microsoft.com/office/drawing/2014/main" id="{B04A3FD2-291D-4040-9136-0CBFA6530E5C}"/>
              </a:ext>
            </a:extLst>
          </p:cNvPr>
          <p:cNvSpPr>
            <a:spLocks noChangeArrowheads="1"/>
          </p:cNvSpPr>
          <p:nvPr/>
        </p:nvSpPr>
        <p:spPr bwMode="auto">
          <a:xfrm>
            <a:off x="4256752" y="4302968"/>
            <a:ext cx="488724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Members prefer </a:t>
            </a:r>
            <a:r>
              <a:rPr kumimoji="0" lang="en-US" altLang="en-US" sz="1800" b="1" i="0" u="none" strike="noStrike" cap="none" normalizeH="0" baseline="0" dirty="0">
                <a:ln>
                  <a:noFill/>
                </a:ln>
                <a:solidFill>
                  <a:schemeClr val="tx1"/>
                </a:solidFill>
                <a:effectLst/>
                <a:latin typeface="Arial" panose="020B0604020202020204" pitchFamily="34" charset="0"/>
              </a:rPr>
              <a:t>Food and Beverages</a:t>
            </a:r>
            <a:r>
              <a:rPr kumimoji="0" lang="en-US" altLang="en-US" sz="1800" b="0" i="0" u="none" strike="noStrike" cap="none" normalizeH="0" baseline="0" dirty="0">
                <a:ln>
                  <a:noFill/>
                </a:ln>
                <a:solidFill>
                  <a:schemeClr val="tx1"/>
                </a:solidFill>
                <a:effectLst/>
                <a:latin typeface="Arial" panose="020B0604020202020204" pitchFamily="34" charset="0"/>
              </a:rPr>
              <a:t>, while Normal customers spend the most on </a:t>
            </a:r>
            <a:r>
              <a:rPr kumimoji="0" lang="en-US" altLang="en-US" sz="1800" b="1" i="0" u="none" strike="noStrike" cap="none" normalizeH="0" baseline="0" dirty="0">
                <a:ln>
                  <a:noFill/>
                </a:ln>
                <a:solidFill>
                  <a:schemeClr val="tx1"/>
                </a:solidFill>
                <a:effectLst/>
                <a:latin typeface="Arial" panose="020B0604020202020204" pitchFamily="34" charset="0"/>
              </a:rPr>
              <a:t>Electronic Accessories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2035538"/>
      </p:ext>
    </p:extLst>
  </p:cSld>
  <p:clrMapOvr>
    <a:masterClrMapping/>
  </p:clrMapOvr>
  <mc:AlternateContent xmlns:mc="http://schemas.openxmlformats.org/markup-compatibility/2006" xmlns:p14="http://schemas.microsoft.com/office/powerpoint/2010/main">
    <mc:Choice Requires="p14">
      <p:transition spd="slow" p14:dur="2000" advTm="9821"/>
    </mc:Choice>
    <mc:Fallback xmlns="">
      <p:transition spd="slow" advTm="982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042556-DA25-4E7F-A048-395A53C421FF}"/>
              </a:ext>
            </a:extLst>
          </p:cNvPr>
          <p:cNvPicPr>
            <a:picLocks noChangeAspect="1"/>
          </p:cNvPicPr>
          <p:nvPr/>
        </p:nvPicPr>
        <p:blipFill>
          <a:blip r:embed="rId3"/>
          <a:stretch>
            <a:fillRect/>
          </a:stretch>
        </p:blipFill>
        <p:spPr>
          <a:xfrm>
            <a:off x="6772275" y="0"/>
            <a:ext cx="2371725" cy="1304925"/>
          </a:xfrm>
          <a:prstGeom prst="rect">
            <a:avLst/>
          </a:prstGeom>
        </p:spPr>
      </p:pic>
      <p:sp>
        <p:nvSpPr>
          <p:cNvPr id="6" name="Rectangle 5">
            <a:extLst>
              <a:ext uri="{FF2B5EF4-FFF2-40B4-BE49-F238E27FC236}">
                <a16:creationId xmlns:a16="http://schemas.microsoft.com/office/drawing/2014/main" id="{6518EAE4-17BD-491E-AD64-28255D7E7FDD}"/>
              </a:ext>
            </a:extLst>
          </p:cNvPr>
          <p:cNvSpPr/>
          <p:nvPr/>
        </p:nvSpPr>
        <p:spPr>
          <a:xfrm>
            <a:off x="573003" y="642318"/>
            <a:ext cx="5672130" cy="523220"/>
          </a:xfrm>
          <a:prstGeom prst="rect">
            <a:avLst/>
          </a:prstGeom>
        </p:spPr>
        <p:txBody>
          <a:bodyPr wrap="none">
            <a:spAutoFit/>
          </a:bodyPr>
          <a:lstStyle/>
          <a:p>
            <a:r>
              <a:rPr lang="en-US" sz="2800" b="1" dirty="0"/>
              <a:t>Task 8: Identifying Repeat Customers</a:t>
            </a:r>
          </a:p>
        </p:txBody>
      </p:sp>
      <p:sp>
        <p:nvSpPr>
          <p:cNvPr id="7" name="TextBox 6">
            <a:extLst>
              <a:ext uri="{FF2B5EF4-FFF2-40B4-BE49-F238E27FC236}">
                <a16:creationId xmlns:a16="http://schemas.microsoft.com/office/drawing/2014/main" id="{18307104-21F4-4155-A876-2F0DA0078F5D}"/>
              </a:ext>
            </a:extLst>
          </p:cNvPr>
          <p:cNvSpPr txBox="1"/>
          <p:nvPr/>
        </p:nvSpPr>
        <p:spPr>
          <a:xfrm>
            <a:off x="573003" y="1304925"/>
            <a:ext cx="8325191" cy="923330"/>
          </a:xfrm>
          <a:prstGeom prst="rect">
            <a:avLst/>
          </a:prstGeom>
          <a:noFill/>
        </p:spPr>
        <p:txBody>
          <a:bodyPr wrap="square" rtlCol="0">
            <a:spAutoFit/>
          </a:bodyPr>
          <a:lstStyle/>
          <a:p>
            <a:r>
              <a:rPr lang="en-US" b="1" dirty="0"/>
              <a:t>Approach: We will use Windows Function LAG() to Compare the current purchase date with the previous or next one.</a:t>
            </a:r>
            <a:br>
              <a:rPr lang="en-US" b="1" dirty="0"/>
            </a:br>
            <a:r>
              <a:rPr lang="en-US" b="1" dirty="0"/>
              <a:t>Also use DATEDIFF() to check the gap between transactions.</a:t>
            </a:r>
          </a:p>
        </p:txBody>
      </p:sp>
      <p:sp>
        <p:nvSpPr>
          <p:cNvPr id="9" name="TextBox 8">
            <a:extLst>
              <a:ext uri="{FF2B5EF4-FFF2-40B4-BE49-F238E27FC236}">
                <a16:creationId xmlns:a16="http://schemas.microsoft.com/office/drawing/2014/main" id="{06011066-D360-4C0B-98AA-BF91115272D2}"/>
              </a:ext>
            </a:extLst>
          </p:cNvPr>
          <p:cNvSpPr txBox="1"/>
          <p:nvPr/>
        </p:nvSpPr>
        <p:spPr>
          <a:xfrm>
            <a:off x="573003" y="2609850"/>
            <a:ext cx="8108881" cy="2800767"/>
          </a:xfrm>
          <a:prstGeom prst="rect">
            <a:avLst/>
          </a:prstGeom>
          <a:noFill/>
        </p:spPr>
        <p:txBody>
          <a:bodyPr wrap="square" rtlCol="0">
            <a:spAutoFit/>
          </a:bodyPr>
          <a:lstStyle/>
          <a:p>
            <a:r>
              <a:rPr lang="en-US" sz="1600" dirty="0">
                <a:latin typeface="Courier New" panose="02070309020205020404" pitchFamily="49" charset="0"/>
                <a:cs typeface="Courier New" panose="02070309020205020404" pitchFamily="49" charset="0"/>
              </a:rPr>
              <a:t>SELECT DISTINCT `Customer ID`</a:t>
            </a:r>
          </a:p>
          <a:p>
            <a:r>
              <a:rPr lang="en-US" sz="1600" dirty="0">
                <a:latin typeface="Courier New" panose="02070309020205020404" pitchFamily="49" charset="0"/>
                <a:cs typeface="Courier New" panose="02070309020205020404" pitchFamily="49" charset="0"/>
              </a:rPr>
              <a:t>FROM (</a:t>
            </a:r>
          </a:p>
          <a:p>
            <a:r>
              <a:rPr lang="en-US" sz="1600" dirty="0">
                <a:latin typeface="Courier New" panose="02070309020205020404" pitchFamily="49" charset="0"/>
                <a:cs typeface="Courier New" panose="02070309020205020404" pitchFamily="49" charset="0"/>
              </a:rPr>
              <a:t>SELECT `Customer ID`,STR_TO_DATE(Date, '%d-%m-%Y’) </a:t>
            </a:r>
          </a:p>
          <a:p>
            <a:r>
              <a:rPr lang="en-US" sz="1600" dirty="0">
                <a:latin typeface="Courier New" panose="02070309020205020404" pitchFamily="49" charset="0"/>
                <a:cs typeface="Courier New" panose="02070309020205020404" pitchFamily="49" charset="0"/>
              </a:rPr>
              <a:t>AS </a:t>
            </a:r>
            <a:r>
              <a:rPr lang="en-US" sz="1600" dirty="0" err="1">
                <a:latin typeface="Courier New" panose="02070309020205020404" pitchFamily="49" charset="0"/>
                <a:cs typeface="Courier New" panose="02070309020205020404" pitchFamily="49" charset="0"/>
              </a:rPr>
              <a:t>PurchaseDate</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LAG(STR_TO_DATE(Date, '%d-%m-%Y')) OVER (PARTITION BY `Customer ID` ORDER BY STR_TO_DATE(Date, '%d-%m-%Y')) AS </a:t>
            </a:r>
            <a:r>
              <a:rPr lang="en-US" sz="1600" dirty="0" err="1">
                <a:latin typeface="Courier New" panose="02070309020205020404" pitchFamily="49" charset="0"/>
                <a:cs typeface="Courier New" panose="02070309020205020404" pitchFamily="49" charset="0"/>
              </a:rPr>
              <a:t>Previous_PurchaseDate</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FROM </a:t>
            </a:r>
            <a:r>
              <a:rPr lang="en-US" sz="1600" dirty="0" err="1">
                <a:latin typeface="Courier New" panose="02070309020205020404" pitchFamily="49" charset="0"/>
                <a:cs typeface="Courier New" panose="02070309020205020404" pitchFamily="49" charset="0"/>
              </a:rPr>
              <a:t>walmartsales_data</a:t>
            </a:r>
            <a:r>
              <a:rPr lang="en-US" sz="1600" dirty="0">
                <a:latin typeface="Courier New" panose="02070309020205020404" pitchFamily="49" charset="0"/>
                <a:cs typeface="Courier New" panose="02070309020205020404" pitchFamily="49" charset="0"/>
              </a:rPr>
              <a:t>) AS </a:t>
            </a:r>
            <a:r>
              <a:rPr lang="en-US" sz="1600" dirty="0" err="1">
                <a:latin typeface="Courier New" panose="02070309020205020404" pitchFamily="49" charset="0"/>
                <a:cs typeface="Courier New" panose="02070309020205020404" pitchFamily="49" charset="0"/>
              </a:rPr>
              <a:t>Customer_dates</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WHERE DATEDIFF(</a:t>
            </a:r>
            <a:r>
              <a:rPr lang="en-US" sz="1600" dirty="0" err="1">
                <a:latin typeface="Courier New" panose="02070309020205020404" pitchFamily="49" charset="0"/>
                <a:cs typeface="Courier New" panose="02070309020205020404" pitchFamily="49" charset="0"/>
              </a:rPr>
              <a:t>PurchaseDate</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Previous_PurchaseDate</a:t>
            </a:r>
            <a:r>
              <a:rPr lang="en-US" sz="1600" dirty="0">
                <a:latin typeface="Courier New" panose="02070309020205020404" pitchFamily="49" charset="0"/>
                <a:cs typeface="Courier New" panose="02070309020205020404" pitchFamily="49" charset="0"/>
              </a:rPr>
              <a:t>) &lt;=30</a:t>
            </a:r>
          </a:p>
          <a:p>
            <a:r>
              <a:rPr lang="en-US" sz="1600" dirty="0">
                <a:latin typeface="Courier New" panose="02070309020205020404" pitchFamily="49" charset="0"/>
                <a:cs typeface="Courier New" panose="02070309020205020404" pitchFamily="49" charset="0"/>
              </a:rPr>
              <a:t>AND </a:t>
            </a:r>
          </a:p>
          <a:p>
            <a:r>
              <a:rPr lang="en-US" sz="1600" dirty="0" err="1">
                <a:latin typeface="Courier New" panose="02070309020205020404" pitchFamily="49" charset="0"/>
                <a:cs typeface="Courier New" panose="02070309020205020404" pitchFamily="49" charset="0"/>
              </a:rPr>
              <a:t>Previous_PurchaseDate</a:t>
            </a:r>
            <a:r>
              <a:rPr lang="en-US" sz="1600" dirty="0">
                <a:latin typeface="Courier New" panose="02070309020205020404" pitchFamily="49" charset="0"/>
                <a:cs typeface="Courier New" panose="02070309020205020404" pitchFamily="49" charset="0"/>
              </a:rPr>
              <a:t> IS NOT NULL;</a:t>
            </a:r>
          </a:p>
        </p:txBody>
      </p:sp>
    </p:spTree>
    <p:extLst>
      <p:ext uri="{BB962C8B-B14F-4D97-AF65-F5344CB8AC3E}">
        <p14:creationId xmlns:p14="http://schemas.microsoft.com/office/powerpoint/2010/main" val="3693034889"/>
      </p:ext>
    </p:extLst>
  </p:cSld>
  <p:clrMapOvr>
    <a:masterClrMapping/>
  </p:clrMapOvr>
  <mc:AlternateContent xmlns:mc="http://schemas.openxmlformats.org/markup-compatibility/2006" xmlns:p14="http://schemas.microsoft.com/office/powerpoint/2010/main">
    <mc:Choice Requires="p14">
      <p:transition spd="slow" p14:dur="2000" advTm="31888"/>
    </mc:Choice>
    <mc:Fallback xmlns="">
      <p:transition spd="slow" advTm="31888"/>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475C58E-0C38-46AF-B733-D58F72BC1580}"/>
              </a:ext>
            </a:extLst>
          </p:cNvPr>
          <p:cNvPicPr>
            <a:picLocks noChangeAspect="1"/>
          </p:cNvPicPr>
          <p:nvPr/>
        </p:nvPicPr>
        <p:blipFill>
          <a:blip r:embed="rId2"/>
          <a:stretch>
            <a:fillRect/>
          </a:stretch>
        </p:blipFill>
        <p:spPr>
          <a:xfrm>
            <a:off x="6772275" y="0"/>
            <a:ext cx="2371725" cy="1304925"/>
          </a:xfrm>
          <a:prstGeom prst="rect">
            <a:avLst/>
          </a:prstGeom>
        </p:spPr>
      </p:pic>
      <p:pic>
        <p:nvPicPr>
          <p:cNvPr id="3" name="Picture 2">
            <a:extLst>
              <a:ext uri="{FF2B5EF4-FFF2-40B4-BE49-F238E27FC236}">
                <a16:creationId xmlns:a16="http://schemas.microsoft.com/office/drawing/2014/main" id="{10D21BF5-9610-4911-82CC-B68102ACA785}"/>
              </a:ext>
            </a:extLst>
          </p:cNvPr>
          <p:cNvPicPr>
            <a:picLocks noChangeAspect="1"/>
          </p:cNvPicPr>
          <p:nvPr/>
        </p:nvPicPr>
        <p:blipFill>
          <a:blip r:embed="rId3"/>
          <a:stretch>
            <a:fillRect/>
          </a:stretch>
        </p:blipFill>
        <p:spPr>
          <a:xfrm>
            <a:off x="462468" y="652462"/>
            <a:ext cx="1730126" cy="4978092"/>
          </a:xfrm>
          <a:prstGeom prst="rect">
            <a:avLst/>
          </a:prstGeom>
        </p:spPr>
      </p:pic>
      <p:sp>
        <p:nvSpPr>
          <p:cNvPr id="4" name="Rectangle 3">
            <a:extLst>
              <a:ext uri="{FF2B5EF4-FFF2-40B4-BE49-F238E27FC236}">
                <a16:creationId xmlns:a16="http://schemas.microsoft.com/office/drawing/2014/main" id="{54E91EE3-C0F4-4A03-8D34-3B952E7B0D1F}"/>
              </a:ext>
            </a:extLst>
          </p:cNvPr>
          <p:cNvSpPr/>
          <p:nvPr/>
        </p:nvSpPr>
        <p:spPr>
          <a:xfrm>
            <a:off x="2423652" y="2251727"/>
            <a:ext cx="6553200" cy="646331"/>
          </a:xfrm>
          <a:prstGeom prst="rect">
            <a:avLst/>
          </a:prstGeom>
        </p:spPr>
        <p:txBody>
          <a:bodyPr wrap="square">
            <a:spAutoFit/>
          </a:bodyPr>
          <a:lstStyle/>
          <a:p>
            <a:r>
              <a:rPr lang="en-US" dirty="0"/>
              <a:t>These customers made a </a:t>
            </a:r>
            <a:r>
              <a:rPr lang="en-US" b="1" dirty="0"/>
              <a:t>repeat purchase within 30 days</a:t>
            </a:r>
            <a:r>
              <a:rPr lang="en-US" dirty="0"/>
              <a:t> of their last one </a:t>
            </a:r>
          </a:p>
        </p:txBody>
      </p:sp>
      <p:sp>
        <p:nvSpPr>
          <p:cNvPr id="5" name="TextBox 4">
            <a:extLst>
              <a:ext uri="{FF2B5EF4-FFF2-40B4-BE49-F238E27FC236}">
                <a16:creationId xmlns:a16="http://schemas.microsoft.com/office/drawing/2014/main" id="{011D5265-7FDD-4840-988F-32913B84B26A}"/>
              </a:ext>
            </a:extLst>
          </p:cNvPr>
          <p:cNvSpPr txBox="1"/>
          <p:nvPr/>
        </p:nvSpPr>
        <p:spPr>
          <a:xfrm>
            <a:off x="2576052" y="4993912"/>
            <a:ext cx="6213987" cy="400110"/>
          </a:xfrm>
          <a:prstGeom prst="rect">
            <a:avLst/>
          </a:prstGeom>
          <a:noFill/>
        </p:spPr>
        <p:txBody>
          <a:bodyPr wrap="square" rtlCol="0">
            <a:spAutoFit/>
          </a:bodyPr>
          <a:lstStyle/>
          <a:p>
            <a:r>
              <a:rPr lang="en-US" sz="2000" b="1" dirty="0"/>
              <a:t>Insights and Suggestions: </a:t>
            </a:r>
          </a:p>
        </p:txBody>
      </p:sp>
      <p:sp>
        <p:nvSpPr>
          <p:cNvPr id="6" name="Rectangle 1">
            <a:extLst>
              <a:ext uri="{FF2B5EF4-FFF2-40B4-BE49-F238E27FC236}">
                <a16:creationId xmlns:a16="http://schemas.microsoft.com/office/drawing/2014/main" id="{DCC72854-BD46-4F36-BDFA-A5EFFD622303}"/>
              </a:ext>
            </a:extLst>
          </p:cNvPr>
          <p:cNvSpPr>
            <a:spLocks noChangeArrowheads="1"/>
          </p:cNvSpPr>
          <p:nvPr/>
        </p:nvSpPr>
        <p:spPr bwMode="auto">
          <a:xfrm>
            <a:off x="2576052" y="5567496"/>
            <a:ext cx="673017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There are several customers made purchases </a:t>
            </a:r>
            <a:r>
              <a:rPr kumimoji="0" lang="en-US" altLang="en-US" sz="1800" b="1" i="0" u="none" strike="noStrike" cap="none" normalizeH="0" baseline="0" dirty="0">
                <a:ln>
                  <a:noFill/>
                </a:ln>
                <a:solidFill>
                  <a:schemeClr val="tx1"/>
                </a:solidFill>
                <a:effectLst/>
                <a:latin typeface="Arial" panose="020B0604020202020204" pitchFamily="34" charset="0"/>
              </a:rPr>
              <a:t>within 30 days</a:t>
            </a:r>
            <a:r>
              <a:rPr kumimoji="0" lang="en-US" altLang="en-US" sz="1800" b="0" i="0" u="none" strike="noStrike" cap="none" normalizeH="0" baseline="0" dirty="0">
                <a:ln>
                  <a:noFill/>
                </a:ln>
                <a:solidFill>
                  <a:schemeClr val="tx1"/>
                </a:solidFill>
                <a:effectLst/>
                <a:latin typeface="Arial" panose="020B0604020202020204" pitchFamily="34" charset="0"/>
              </a:rPr>
              <a:t>, indicating brand loyalty.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These can be enrolled in </a:t>
            </a:r>
            <a:r>
              <a:rPr kumimoji="0" lang="en-US" altLang="en-US" sz="1800" b="1" i="0" u="none" strike="noStrike" cap="none" normalizeH="0" baseline="0" dirty="0">
                <a:ln>
                  <a:noFill/>
                </a:ln>
                <a:solidFill>
                  <a:schemeClr val="tx1"/>
                </a:solidFill>
                <a:effectLst/>
                <a:latin typeface="Arial" panose="020B0604020202020204" pitchFamily="34" charset="0"/>
              </a:rPr>
              <a:t>loyalty/rewards programs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397940844"/>
      </p:ext>
    </p:extLst>
  </p:cSld>
  <p:clrMapOvr>
    <a:masterClrMapping/>
  </p:clrMapOvr>
  <mc:AlternateContent xmlns:mc="http://schemas.openxmlformats.org/markup-compatibility/2006" xmlns:p14="http://schemas.microsoft.com/office/powerpoint/2010/main">
    <mc:Choice Requires="p14">
      <p:transition spd="slow" p14:dur="2000" advTm="14704"/>
    </mc:Choice>
    <mc:Fallback xmlns="">
      <p:transition spd="slow" advTm="1470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3E6E6A-B374-4949-AF69-DA2F6A4F033B}"/>
              </a:ext>
            </a:extLst>
          </p:cNvPr>
          <p:cNvPicPr>
            <a:picLocks noChangeAspect="1"/>
          </p:cNvPicPr>
          <p:nvPr/>
        </p:nvPicPr>
        <p:blipFill>
          <a:blip r:embed="rId2"/>
          <a:stretch>
            <a:fillRect/>
          </a:stretch>
        </p:blipFill>
        <p:spPr>
          <a:xfrm>
            <a:off x="6772275" y="0"/>
            <a:ext cx="2371725" cy="1304925"/>
          </a:xfrm>
          <a:prstGeom prst="rect">
            <a:avLst/>
          </a:prstGeom>
        </p:spPr>
      </p:pic>
      <p:sp>
        <p:nvSpPr>
          <p:cNvPr id="3" name="Rectangle 2">
            <a:extLst>
              <a:ext uri="{FF2B5EF4-FFF2-40B4-BE49-F238E27FC236}">
                <a16:creationId xmlns:a16="http://schemas.microsoft.com/office/drawing/2014/main" id="{CFDFD5A4-B6D8-4F60-A52F-2D59D8A5EDAC}"/>
              </a:ext>
            </a:extLst>
          </p:cNvPr>
          <p:cNvSpPr/>
          <p:nvPr/>
        </p:nvSpPr>
        <p:spPr>
          <a:xfrm>
            <a:off x="402047" y="921584"/>
            <a:ext cx="7556090" cy="523220"/>
          </a:xfrm>
          <a:prstGeom prst="rect">
            <a:avLst/>
          </a:prstGeom>
        </p:spPr>
        <p:txBody>
          <a:bodyPr wrap="square">
            <a:spAutoFit/>
          </a:bodyPr>
          <a:lstStyle/>
          <a:p>
            <a:r>
              <a:rPr lang="en-US" sz="2800" b="1" dirty="0"/>
              <a:t>Task 9: Finding Top 5 Customers by Sales Volume</a:t>
            </a:r>
          </a:p>
        </p:txBody>
      </p:sp>
      <p:sp>
        <p:nvSpPr>
          <p:cNvPr id="6" name="TextBox 5">
            <a:extLst>
              <a:ext uri="{FF2B5EF4-FFF2-40B4-BE49-F238E27FC236}">
                <a16:creationId xmlns:a16="http://schemas.microsoft.com/office/drawing/2014/main" id="{89DBBCA2-C452-4E46-AC2F-E42D3CEA2074}"/>
              </a:ext>
            </a:extLst>
          </p:cNvPr>
          <p:cNvSpPr txBox="1"/>
          <p:nvPr/>
        </p:nvSpPr>
        <p:spPr>
          <a:xfrm>
            <a:off x="491613" y="1700981"/>
            <a:ext cx="8278761" cy="923330"/>
          </a:xfrm>
          <a:prstGeom prst="rect">
            <a:avLst/>
          </a:prstGeom>
          <a:noFill/>
        </p:spPr>
        <p:txBody>
          <a:bodyPr wrap="square" rtlCol="0">
            <a:spAutoFit/>
          </a:bodyPr>
          <a:lstStyle/>
          <a:p>
            <a:r>
              <a:rPr lang="en-US" dirty="0"/>
              <a:t>Approach: We will Group the data by Customer ID, then we will sum the Total for each customer.</a:t>
            </a:r>
            <a:br>
              <a:rPr lang="en-US" dirty="0"/>
            </a:br>
            <a:r>
              <a:rPr lang="en-US" dirty="0"/>
              <a:t>Then we can arrange the total in descending order and Limit it by 5. </a:t>
            </a:r>
          </a:p>
        </p:txBody>
      </p:sp>
      <p:sp>
        <p:nvSpPr>
          <p:cNvPr id="9" name="TextBox 8">
            <a:extLst>
              <a:ext uri="{FF2B5EF4-FFF2-40B4-BE49-F238E27FC236}">
                <a16:creationId xmlns:a16="http://schemas.microsoft.com/office/drawing/2014/main" id="{4605F1CB-5715-45A7-848D-45C669242E2C}"/>
              </a:ext>
            </a:extLst>
          </p:cNvPr>
          <p:cNvSpPr txBox="1"/>
          <p:nvPr/>
        </p:nvSpPr>
        <p:spPr>
          <a:xfrm>
            <a:off x="599767" y="2880488"/>
            <a:ext cx="8062451" cy="1815882"/>
          </a:xfrm>
          <a:prstGeom prst="rect">
            <a:avLst/>
          </a:prstGeom>
          <a:noFill/>
        </p:spPr>
        <p:txBody>
          <a:bodyPr wrap="square" rtlCol="0">
            <a:spAutoFit/>
          </a:bodyPr>
          <a:lstStyle/>
          <a:p>
            <a:r>
              <a:rPr lang="en-US" sz="1600" dirty="0">
                <a:latin typeface="Courier New" panose="02070309020205020404" pitchFamily="49" charset="0"/>
                <a:cs typeface="Courier New" panose="02070309020205020404" pitchFamily="49" charset="0"/>
              </a:rPr>
              <a:t>SELECT </a:t>
            </a:r>
          </a:p>
          <a:p>
            <a:r>
              <a:rPr lang="en-US" sz="1600" dirty="0">
                <a:latin typeface="Courier New" panose="02070309020205020404" pitchFamily="49" charset="0"/>
                <a:cs typeface="Courier New" panose="02070309020205020404" pitchFamily="49" charset="0"/>
              </a:rPr>
              <a:t>`Customer ID`,</a:t>
            </a:r>
          </a:p>
          <a:p>
            <a:r>
              <a:rPr lang="en-US" sz="1600" dirty="0">
                <a:latin typeface="Courier New" panose="02070309020205020404" pitchFamily="49" charset="0"/>
                <a:cs typeface="Courier New" panose="02070309020205020404" pitchFamily="49" charset="0"/>
              </a:rPr>
              <a:t>ROUND(SUM(`Total`), 2) AS </a:t>
            </a:r>
            <a:r>
              <a:rPr lang="en-US" sz="1600" dirty="0" err="1">
                <a:latin typeface="Courier New" panose="02070309020205020404" pitchFamily="49" charset="0"/>
                <a:cs typeface="Courier New" panose="02070309020205020404" pitchFamily="49" charset="0"/>
              </a:rPr>
              <a:t>TotalSpending</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FROM Walmartsales_data</a:t>
            </a:r>
          </a:p>
          <a:p>
            <a:r>
              <a:rPr lang="en-US" sz="1600" dirty="0">
                <a:latin typeface="Courier New" panose="02070309020205020404" pitchFamily="49" charset="0"/>
                <a:cs typeface="Courier New" panose="02070309020205020404" pitchFamily="49" charset="0"/>
              </a:rPr>
              <a:t>GROUP BY `Customer ID`</a:t>
            </a:r>
          </a:p>
          <a:p>
            <a:r>
              <a:rPr lang="en-US" sz="1600" dirty="0">
                <a:latin typeface="Courier New" panose="02070309020205020404" pitchFamily="49" charset="0"/>
                <a:cs typeface="Courier New" panose="02070309020205020404" pitchFamily="49" charset="0"/>
              </a:rPr>
              <a:t>ORDER BY </a:t>
            </a:r>
            <a:r>
              <a:rPr lang="en-US" sz="1600" dirty="0" err="1">
                <a:latin typeface="Courier New" panose="02070309020205020404" pitchFamily="49" charset="0"/>
                <a:cs typeface="Courier New" panose="02070309020205020404" pitchFamily="49" charset="0"/>
              </a:rPr>
              <a:t>TotalSpending</a:t>
            </a:r>
            <a:r>
              <a:rPr lang="en-US" sz="1600" dirty="0">
                <a:latin typeface="Courier New" panose="02070309020205020404" pitchFamily="49" charset="0"/>
                <a:cs typeface="Courier New" panose="02070309020205020404" pitchFamily="49" charset="0"/>
              </a:rPr>
              <a:t> DESC</a:t>
            </a:r>
          </a:p>
          <a:p>
            <a:r>
              <a:rPr lang="en-US" sz="1600" dirty="0">
                <a:latin typeface="Courier New" panose="02070309020205020404" pitchFamily="49" charset="0"/>
                <a:cs typeface="Courier New" panose="02070309020205020404" pitchFamily="49" charset="0"/>
              </a:rPr>
              <a:t>LIMIT 5;</a:t>
            </a:r>
          </a:p>
        </p:txBody>
      </p:sp>
      <p:pic>
        <p:nvPicPr>
          <p:cNvPr id="10" name="Picture 9">
            <a:extLst>
              <a:ext uri="{FF2B5EF4-FFF2-40B4-BE49-F238E27FC236}">
                <a16:creationId xmlns:a16="http://schemas.microsoft.com/office/drawing/2014/main" id="{D70DA54E-E3F2-4177-9955-4C63B4262222}"/>
              </a:ext>
            </a:extLst>
          </p:cNvPr>
          <p:cNvPicPr>
            <a:picLocks noChangeAspect="1"/>
          </p:cNvPicPr>
          <p:nvPr/>
        </p:nvPicPr>
        <p:blipFill>
          <a:blip r:embed="rId3"/>
          <a:stretch>
            <a:fillRect/>
          </a:stretch>
        </p:blipFill>
        <p:spPr>
          <a:xfrm>
            <a:off x="5904710" y="3513992"/>
            <a:ext cx="3239290" cy="2186814"/>
          </a:xfrm>
          <a:prstGeom prst="rect">
            <a:avLst/>
          </a:prstGeom>
        </p:spPr>
      </p:pic>
      <p:sp>
        <p:nvSpPr>
          <p:cNvPr id="11" name="TextBox 10">
            <a:extLst>
              <a:ext uri="{FF2B5EF4-FFF2-40B4-BE49-F238E27FC236}">
                <a16:creationId xmlns:a16="http://schemas.microsoft.com/office/drawing/2014/main" id="{CFD46F34-DE1E-4E55-9D0A-220823F7B45D}"/>
              </a:ext>
            </a:extLst>
          </p:cNvPr>
          <p:cNvSpPr txBox="1"/>
          <p:nvPr/>
        </p:nvSpPr>
        <p:spPr>
          <a:xfrm>
            <a:off x="491613" y="5953242"/>
            <a:ext cx="8013290" cy="677108"/>
          </a:xfrm>
          <a:prstGeom prst="rect">
            <a:avLst/>
          </a:prstGeom>
          <a:noFill/>
        </p:spPr>
        <p:txBody>
          <a:bodyPr wrap="square" rtlCol="0">
            <a:spAutoFit/>
          </a:bodyPr>
          <a:lstStyle/>
          <a:p>
            <a:r>
              <a:rPr lang="en-US" sz="2000" b="1" dirty="0"/>
              <a:t>Insights and Suggestions: </a:t>
            </a:r>
            <a:r>
              <a:rPr lang="en-US" dirty="0"/>
              <a:t>Identified highest revenue-generating customers.</a:t>
            </a:r>
          </a:p>
          <a:p>
            <a:r>
              <a:rPr lang="en-US" dirty="0"/>
              <a:t>Perfect for </a:t>
            </a:r>
            <a:r>
              <a:rPr lang="en-US" b="1" dirty="0"/>
              <a:t>exclusive offers</a:t>
            </a:r>
            <a:r>
              <a:rPr lang="en-US" dirty="0"/>
              <a:t> or </a:t>
            </a:r>
            <a:r>
              <a:rPr lang="en-US" b="1" dirty="0"/>
              <a:t>recognition marketing</a:t>
            </a:r>
            <a:r>
              <a:rPr lang="en-US" dirty="0"/>
              <a:t>.</a:t>
            </a:r>
          </a:p>
        </p:txBody>
      </p:sp>
    </p:spTree>
    <p:extLst>
      <p:ext uri="{BB962C8B-B14F-4D97-AF65-F5344CB8AC3E}">
        <p14:creationId xmlns:p14="http://schemas.microsoft.com/office/powerpoint/2010/main" val="1746811673"/>
      </p:ext>
    </p:extLst>
  </p:cSld>
  <p:clrMapOvr>
    <a:masterClrMapping/>
  </p:clrMapOvr>
  <mc:AlternateContent xmlns:mc="http://schemas.openxmlformats.org/markup-compatibility/2006" xmlns:p14="http://schemas.microsoft.com/office/powerpoint/2010/main">
    <mc:Choice Requires="p14">
      <p:transition spd="slow" p14:dur="2000" advTm="24736"/>
    </mc:Choice>
    <mc:Fallback xmlns="">
      <p:transition spd="slow" advTm="24736"/>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3D9D95-FA2C-4B00-AD42-C6167658AD40}"/>
              </a:ext>
            </a:extLst>
          </p:cNvPr>
          <p:cNvPicPr>
            <a:picLocks noChangeAspect="1"/>
          </p:cNvPicPr>
          <p:nvPr/>
        </p:nvPicPr>
        <p:blipFill>
          <a:blip r:embed="rId2"/>
          <a:stretch>
            <a:fillRect/>
          </a:stretch>
        </p:blipFill>
        <p:spPr>
          <a:xfrm>
            <a:off x="6772275" y="7374"/>
            <a:ext cx="2371725" cy="1304925"/>
          </a:xfrm>
          <a:prstGeom prst="rect">
            <a:avLst/>
          </a:prstGeom>
        </p:spPr>
      </p:pic>
      <p:sp>
        <p:nvSpPr>
          <p:cNvPr id="3" name="Rectangle 2">
            <a:extLst>
              <a:ext uri="{FF2B5EF4-FFF2-40B4-BE49-F238E27FC236}">
                <a16:creationId xmlns:a16="http://schemas.microsoft.com/office/drawing/2014/main" id="{DFE0545A-36EC-4641-BA28-D1E4A3919F5E}"/>
              </a:ext>
            </a:extLst>
          </p:cNvPr>
          <p:cNvSpPr/>
          <p:nvPr/>
        </p:nvSpPr>
        <p:spPr>
          <a:xfrm>
            <a:off x="425245" y="877305"/>
            <a:ext cx="8116530" cy="523220"/>
          </a:xfrm>
          <a:prstGeom prst="rect">
            <a:avLst/>
          </a:prstGeom>
        </p:spPr>
        <p:txBody>
          <a:bodyPr wrap="square">
            <a:spAutoFit/>
          </a:bodyPr>
          <a:lstStyle/>
          <a:p>
            <a:r>
              <a:rPr lang="en-US" sz="2800" b="1" dirty="0"/>
              <a:t>Task 10: Analyzing Sales Trends by Day of the Week</a:t>
            </a:r>
          </a:p>
        </p:txBody>
      </p:sp>
      <p:sp>
        <p:nvSpPr>
          <p:cNvPr id="4" name="Rectangle 3">
            <a:extLst>
              <a:ext uri="{FF2B5EF4-FFF2-40B4-BE49-F238E27FC236}">
                <a16:creationId xmlns:a16="http://schemas.microsoft.com/office/drawing/2014/main" id="{BC55A751-F2BE-4C92-BE31-1B70D3A358C4}"/>
              </a:ext>
            </a:extLst>
          </p:cNvPr>
          <p:cNvSpPr/>
          <p:nvPr/>
        </p:nvSpPr>
        <p:spPr>
          <a:xfrm>
            <a:off x="970936" y="1400525"/>
            <a:ext cx="7747819" cy="646331"/>
          </a:xfrm>
          <a:prstGeom prst="rect">
            <a:avLst/>
          </a:prstGeom>
        </p:spPr>
        <p:txBody>
          <a:bodyPr wrap="square">
            <a:spAutoFit/>
          </a:bodyPr>
          <a:lstStyle/>
          <a:p>
            <a:r>
              <a:rPr lang="en-US" dirty="0"/>
              <a:t>Walmart wants to know </a:t>
            </a:r>
            <a:r>
              <a:rPr lang="en-US" b="1" dirty="0"/>
              <a:t>which days of the week</a:t>
            </a:r>
            <a:r>
              <a:rPr lang="en-US" dirty="0"/>
              <a:t> bring in the most </a:t>
            </a:r>
            <a:r>
              <a:rPr lang="en-US" b="1" dirty="0"/>
              <a:t>total sales revenue</a:t>
            </a:r>
            <a:r>
              <a:rPr lang="en-US" dirty="0"/>
              <a:t>. This helps them plan promotions and staffing better.</a:t>
            </a:r>
          </a:p>
        </p:txBody>
      </p:sp>
      <p:sp>
        <p:nvSpPr>
          <p:cNvPr id="5" name="TextBox 4">
            <a:extLst>
              <a:ext uri="{FF2B5EF4-FFF2-40B4-BE49-F238E27FC236}">
                <a16:creationId xmlns:a16="http://schemas.microsoft.com/office/drawing/2014/main" id="{DF141E22-7A66-4AD1-AF4D-C8EB3C9F9BFC}"/>
              </a:ext>
            </a:extLst>
          </p:cNvPr>
          <p:cNvSpPr txBox="1"/>
          <p:nvPr/>
        </p:nvSpPr>
        <p:spPr>
          <a:xfrm>
            <a:off x="425244" y="2330245"/>
            <a:ext cx="8718755" cy="1200329"/>
          </a:xfrm>
          <a:prstGeom prst="rect">
            <a:avLst/>
          </a:prstGeom>
          <a:noFill/>
        </p:spPr>
        <p:txBody>
          <a:bodyPr wrap="square" rtlCol="0">
            <a:spAutoFit/>
          </a:bodyPr>
          <a:lstStyle/>
          <a:p>
            <a:r>
              <a:rPr lang="en-US" b="1" dirty="0"/>
              <a:t>Approach: We will First Extract the day of the Week using DAYNAME().</a:t>
            </a:r>
          </a:p>
          <a:p>
            <a:r>
              <a:rPr lang="en-US" b="1" dirty="0"/>
              <a:t>Then we will SUM the total sales for each day of the week.</a:t>
            </a:r>
          </a:p>
          <a:p>
            <a:r>
              <a:rPr lang="en-US" b="1" dirty="0"/>
              <a:t>After that finally we will Sort the results by total revenue (descending) — to see which day performs best.</a:t>
            </a:r>
          </a:p>
        </p:txBody>
      </p:sp>
      <p:sp>
        <p:nvSpPr>
          <p:cNvPr id="9" name="Rectangle 8">
            <a:extLst>
              <a:ext uri="{FF2B5EF4-FFF2-40B4-BE49-F238E27FC236}">
                <a16:creationId xmlns:a16="http://schemas.microsoft.com/office/drawing/2014/main" id="{97FC9435-DDDF-4A08-A7DB-F5124E28940C}"/>
              </a:ext>
            </a:extLst>
          </p:cNvPr>
          <p:cNvSpPr/>
          <p:nvPr/>
        </p:nvSpPr>
        <p:spPr>
          <a:xfrm>
            <a:off x="585018" y="3721629"/>
            <a:ext cx="7772401" cy="1323439"/>
          </a:xfrm>
          <a:prstGeom prst="rect">
            <a:avLst/>
          </a:prstGeom>
        </p:spPr>
        <p:txBody>
          <a:bodyPr wrap="square">
            <a:spAutoFit/>
          </a:bodyPr>
          <a:lstStyle/>
          <a:p>
            <a:r>
              <a:rPr lang="en-US" sz="1600" dirty="0">
                <a:latin typeface="Courier New" panose="02070309020205020404" pitchFamily="49" charset="0"/>
                <a:cs typeface="Courier New" panose="02070309020205020404" pitchFamily="49" charset="0"/>
              </a:rPr>
              <a:t>SELECT DAYNAME(STR_TO_DATE(Date, '%d-%m-%Y')) AS </a:t>
            </a:r>
            <a:r>
              <a:rPr lang="en-US" sz="1600" dirty="0" err="1">
                <a:latin typeface="Courier New" panose="02070309020205020404" pitchFamily="49" charset="0"/>
                <a:cs typeface="Courier New" panose="02070309020205020404" pitchFamily="49" charset="0"/>
              </a:rPr>
              <a:t>DayOfWeek</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ROUND(SUM(Total), 2) AS </a:t>
            </a:r>
            <a:r>
              <a:rPr lang="en-US" sz="1600" dirty="0" err="1">
                <a:latin typeface="Courier New" panose="02070309020205020404" pitchFamily="49" charset="0"/>
                <a:cs typeface="Courier New" panose="02070309020205020404" pitchFamily="49" charset="0"/>
              </a:rPr>
              <a:t>TotalSales</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FROM Walmartsales_data</a:t>
            </a:r>
          </a:p>
          <a:p>
            <a:r>
              <a:rPr lang="en-US" sz="1600" dirty="0">
                <a:latin typeface="Courier New" panose="02070309020205020404" pitchFamily="49" charset="0"/>
                <a:cs typeface="Courier New" panose="02070309020205020404" pitchFamily="49" charset="0"/>
              </a:rPr>
              <a:t>GROUP BY </a:t>
            </a:r>
            <a:r>
              <a:rPr lang="en-US" sz="1600" dirty="0" err="1">
                <a:latin typeface="Courier New" panose="02070309020205020404" pitchFamily="49" charset="0"/>
                <a:cs typeface="Courier New" panose="02070309020205020404" pitchFamily="49" charset="0"/>
              </a:rPr>
              <a:t>DayOfWeek</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ORDER BY </a:t>
            </a:r>
            <a:r>
              <a:rPr lang="en-US" sz="1600" dirty="0" err="1">
                <a:latin typeface="Courier New" panose="02070309020205020404" pitchFamily="49" charset="0"/>
                <a:cs typeface="Courier New" panose="02070309020205020404" pitchFamily="49" charset="0"/>
              </a:rPr>
              <a:t>TotalSales</a:t>
            </a:r>
            <a:r>
              <a:rPr lang="en-US" sz="1600" dirty="0">
                <a:latin typeface="Courier New" panose="02070309020205020404" pitchFamily="49" charset="0"/>
                <a:cs typeface="Courier New" panose="02070309020205020404" pitchFamily="49" charset="0"/>
              </a:rPr>
              <a:t> DESC;</a:t>
            </a:r>
          </a:p>
        </p:txBody>
      </p:sp>
      <p:pic>
        <p:nvPicPr>
          <p:cNvPr id="10" name="Picture 9">
            <a:extLst>
              <a:ext uri="{FF2B5EF4-FFF2-40B4-BE49-F238E27FC236}">
                <a16:creationId xmlns:a16="http://schemas.microsoft.com/office/drawing/2014/main" id="{5A3429A2-1097-4C88-995F-9E8CBC58561C}"/>
              </a:ext>
            </a:extLst>
          </p:cNvPr>
          <p:cNvPicPr>
            <a:picLocks noChangeAspect="1"/>
          </p:cNvPicPr>
          <p:nvPr/>
        </p:nvPicPr>
        <p:blipFill>
          <a:blip r:embed="rId3"/>
          <a:stretch>
            <a:fillRect/>
          </a:stretch>
        </p:blipFill>
        <p:spPr>
          <a:xfrm>
            <a:off x="6167873" y="4316575"/>
            <a:ext cx="2550882" cy="2279067"/>
          </a:xfrm>
          <a:prstGeom prst="rect">
            <a:avLst/>
          </a:prstGeom>
        </p:spPr>
      </p:pic>
    </p:spTree>
    <p:extLst>
      <p:ext uri="{BB962C8B-B14F-4D97-AF65-F5344CB8AC3E}">
        <p14:creationId xmlns:p14="http://schemas.microsoft.com/office/powerpoint/2010/main" val="1517676112"/>
      </p:ext>
    </p:extLst>
  </p:cSld>
  <p:clrMapOvr>
    <a:masterClrMapping/>
  </p:clrMapOvr>
  <mc:AlternateContent xmlns:mc="http://schemas.openxmlformats.org/markup-compatibility/2006" xmlns:p14="http://schemas.microsoft.com/office/powerpoint/2010/main">
    <mc:Choice Requires="p14">
      <p:transition spd="slow" p14:dur="2000" advTm="20465"/>
    </mc:Choice>
    <mc:Fallback xmlns="">
      <p:transition spd="slow" advTm="20465"/>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F0917A-F2D4-40C5-AB82-11526789E6E5}"/>
              </a:ext>
            </a:extLst>
          </p:cNvPr>
          <p:cNvPicPr>
            <a:picLocks noChangeAspect="1"/>
          </p:cNvPicPr>
          <p:nvPr/>
        </p:nvPicPr>
        <p:blipFill>
          <a:blip r:embed="rId2"/>
          <a:stretch>
            <a:fillRect/>
          </a:stretch>
        </p:blipFill>
        <p:spPr>
          <a:xfrm>
            <a:off x="6772275" y="46703"/>
            <a:ext cx="2371725" cy="1304925"/>
          </a:xfrm>
          <a:prstGeom prst="rect">
            <a:avLst/>
          </a:prstGeom>
        </p:spPr>
      </p:pic>
      <p:graphicFrame>
        <p:nvGraphicFramePr>
          <p:cNvPr id="3" name="Table 2">
            <a:extLst>
              <a:ext uri="{FF2B5EF4-FFF2-40B4-BE49-F238E27FC236}">
                <a16:creationId xmlns:a16="http://schemas.microsoft.com/office/drawing/2014/main" id="{DFB04C2E-EC47-4B29-A012-C7904663E63E}"/>
              </a:ext>
            </a:extLst>
          </p:cNvPr>
          <p:cNvGraphicFramePr>
            <a:graphicFrameLocks noGrp="1"/>
          </p:cNvGraphicFramePr>
          <p:nvPr>
            <p:extLst>
              <p:ext uri="{D42A27DB-BD31-4B8C-83A1-F6EECF244321}">
                <p14:modId xmlns:p14="http://schemas.microsoft.com/office/powerpoint/2010/main" val="3517927348"/>
              </p:ext>
            </p:extLst>
          </p:nvPr>
        </p:nvGraphicFramePr>
        <p:xfrm>
          <a:off x="444089" y="1278347"/>
          <a:ext cx="2476092" cy="2463288"/>
        </p:xfrm>
        <a:graphic>
          <a:graphicData uri="http://schemas.openxmlformats.org/drawingml/2006/table">
            <a:tbl>
              <a:tblPr>
                <a:tableStyleId>{5C22544A-7EE6-4342-B048-85BDC9FD1C3A}</a:tableStyleId>
              </a:tblPr>
              <a:tblGrid>
                <a:gridCol w="1292666">
                  <a:extLst>
                    <a:ext uri="{9D8B030D-6E8A-4147-A177-3AD203B41FA5}">
                      <a16:colId xmlns:a16="http://schemas.microsoft.com/office/drawing/2014/main" val="8827521"/>
                    </a:ext>
                  </a:extLst>
                </a:gridCol>
                <a:gridCol w="1183426">
                  <a:extLst>
                    <a:ext uri="{9D8B030D-6E8A-4147-A177-3AD203B41FA5}">
                      <a16:colId xmlns:a16="http://schemas.microsoft.com/office/drawing/2014/main" val="3466267812"/>
                    </a:ext>
                  </a:extLst>
                </a:gridCol>
              </a:tblGrid>
              <a:tr h="307911">
                <a:tc>
                  <a:txBody>
                    <a:bodyPr/>
                    <a:lstStyle/>
                    <a:p>
                      <a:pPr algn="l" fontAlgn="b"/>
                      <a:r>
                        <a:rPr lang="en-US" sz="1100" u="none" strike="noStrike">
                          <a:effectLst/>
                        </a:rPr>
                        <a:t>DayOfWeek</a:t>
                      </a:r>
                      <a:endParaRPr lang="en-US" sz="1100" b="1"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 TotalSales</a:t>
                      </a:r>
                      <a:endParaRPr lang="en-US" sz="1100" b="1"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49544891"/>
                  </a:ext>
                </a:extLst>
              </a:tr>
              <a:tr h="307911">
                <a:tc>
                  <a:txBody>
                    <a:bodyPr/>
                    <a:lstStyle/>
                    <a:p>
                      <a:pPr algn="l" fontAlgn="b"/>
                      <a:r>
                        <a:rPr lang="en-US" sz="1100" u="none" strike="noStrike">
                          <a:effectLst/>
                        </a:rPr>
                        <a:t>Saturday</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56120.81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891589380"/>
                  </a:ext>
                </a:extLst>
              </a:tr>
              <a:tr h="307911">
                <a:tc>
                  <a:txBody>
                    <a:bodyPr/>
                    <a:lstStyle/>
                    <a:p>
                      <a:pPr algn="l" fontAlgn="b"/>
                      <a:r>
                        <a:rPr lang="en-US" sz="1100" u="none" strike="noStrike">
                          <a:effectLst/>
                        </a:rPr>
                        <a:t>Tuesday</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51482.25</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75293188"/>
                  </a:ext>
                </a:extLst>
              </a:tr>
              <a:tr h="307911">
                <a:tc>
                  <a:txBody>
                    <a:bodyPr/>
                    <a:lstStyle/>
                    <a:p>
                      <a:pPr algn="l" fontAlgn="b"/>
                      <a:r>
                        <a:rPr lang="en-US" sz="1100" u="none" strike="noStrike">
                          <a:effectLst/>
                        </a:rPr>
                        <a:t>Thursday</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45349.25</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57585593"/>
                  </a:ext>
                </a:extLst>
              </a:tr>
              <a:tr h="307911">
                <a:tc>
                  <a:txBody>
                    <a:bodyPr/>
                    <a:lstStyle/>
                    <a:p>
                      <a:pPr algn="l" fontAlgn="b"/>
                      <a:r>
                        <a:rPr lang="en-US" sz="1100" u="none" strike="noStrike">
                          <a:effectLst/>
                        </a:rPr>
                        <a:t>Sunday</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44457.89</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09018066"/>
                  </a:ext>
                </a:extLst>
              </a:tr>
              <a:tr h="307911">
                <a:tc>
                  <a:txBody>
                    <a:bodyPr/>
                    <a:lstStyle/>
                    <a:p>
                      <a:pPr algn="l" fontAlgn="b"/>
                      <a:r>
                        <a:rPr lang="en-US" sz="1100" u="none" strike="noStrike">
                          <a:effectLst/>
                        </a:rPr>
                        <a:t>Friday</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43926.34</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676704290"/>
                  </a:ext>
                </a:extLst>
              </a:tr>
              <a:tr h="307911">
                <a:tc>
                  <a:txBody>
                    <a:bodyPr/>
                    <a:lstStyle/>
                    <a:p>
                      <a:pPr algn="l" fontAlgn="b"/>
                      <a:r>
                        <a:rPr lang="en-US" sz="1100" u="none" strike="noStrike">
                          <a:effectLst/>
                        </a:rPr>
                        <a:t>Wednesday</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43731.14</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413054772"/>
                  </a:ext>
                </a:extLst>
              </a:tr>
              <a:tr h="307911">
                <a:tc>
                  <a:txBody>
                    <a:bodyPr/>
                    <a:lstStyle/>
                    <a:p>
                      <a:pPr algn="l" fontAlgn="b"/>
                      <a:r>
                        <a:rPr lang="en-US" sz="1100" u="none" strike="noStrike">
                          <a:effectLst/>
                        </a:rPr>
                        <a:t>Monday</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dirty="0">
                          <a:effectLst/>
                        </a:rPr>
                        <a:t>37899.08</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161097348"/>
                  </a:ext>
                </a:extLst>
              </a:tr>
            </a:tbl>
          </a:graphicData>
        </a:graphic>
      </p:graphicFrame>
      <mc:AlternateContent xmlns:mc="http://schemas.openxmlformats.org/markup-compatibility/2006" xmlns:cx2="http://schemas.microsoft.com/office/drawing/2015/10/21/chartex">
        <mc:Choice Requires="cx2">
          <p:graphicFrame>
            <p:nvGraphicFramePr>
              <p:cNvPr id="4" name="Chart 3">
                <a:extLst>
                  <a:ext uri="{FF2B5EF4-FFF2-40B4-BE49-F238E27FC236}">
                    <a16:creationId xmlns:a16="http://schemas.microsoft.com/office/drawing/2014/main" id="{F61DA37B-8432-497B-83C3-ED6E4C306C4C}"/>
                  </a:ext>
                </a:extLst>
              </p:cNvPr>
              <p:cNvGraphicFramePr/>
              <p:nvPr>
                <p:extLst>
                  <p:ext uri="{D42A27DB-BD31-4B8C-83A1-F6EECF244321}">
                    <p14:modId xmlns:p14="http://schemas.microsoft.com/office/powerpoint/2010/main" val="3038689028"/>
                  </p:ext>
                </p:extLst>
              </p:nvPr>
            </p:nvGraphicFramePr>
            <p:xfrm>
              <a:off x="3652683" y="998434"/>
              <a:ext cx="5047227" cy="3258933"/>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Chart 3">
                <a:extLst>
                  <a:ext uri="{FF2B5EF4-FFF2-40B4-BE49-F238E27FC236}">
                    <a16:creationId xmlns:a16="http://schemas.microsoft.com/office/drawing/2014/main" id="{F61DA37B-8432-497B-83C3-ED6E4C306C4C}"/>
                  </a:ext>
                </a:extLst>
              </p:cNvPr>
              <p:cNvPicPr>
                <a:picLocks noGrp="1" noRot="1" noChangeAspect="1" noMove="1" noResize="1" noEditPoints="1" noAdjustHandles="1" noChangeArrowheads="1" noChangeShapeType="1"/>
              </p:cNvPicPr>
              <p:nvPr/>
            </p:nvPicPr>
            <p:blipFill>
              <a:blip r:embed="rId6"/>
              <a:stretch>
                <a:fillRect/>
              </a:stretch>
            </p:blipFill>
            <p:spPr>
              <a:xfrm>
                <a:off x="3652683" y="998434"/>
                <a:ext cx="5047227" cy="3258933"/>
              </a:xfrm>
              <a:prstGeom prst="rect">
                <a:avLst/>
              </a:prstGeom>
            </p:spPr>
          </p:pic>
        </mc:Fallback>
      </mc:AlternateContent>
      <p:sp>
        <p:nvSpPr>
          <p:cNvPr id="5" name="TextBox 4">
            <a:extLst>
              <a:ext uri="{FF2B5EF4-FFF2-40B4-BE49-F238E27FC236}">
                <a16:creationId xmlns:a16="http://schemas.microsoft.com/office/drawing/2014/main" id="{D83635B1-6C4E-4D02-8C38-F94653D3C913}"/>
              </a:ext>
            </a:extLst>
          </p:cNvPr>
          <p:cNvSpPr txBox="1"/>
          <p:nvPr/>
        </p:nvSpPr>
        <p:spPr>
          <a:xfrm>
            <a:off x="444089" y="5203920"/>
            <a:ext cx="8255821" cy="646331"/>
          </a:xfrm>
          <a:prstGeom prst="rect">
            <a:avLst/>
          </a:prstGeom>
          <a:noFill/>
        </p:spPr>
        <p:txBody>
          <a:bodyPr wrap="square" rtlCol="0">
            <a:spAutoFit/>
          </a:bodyPr>
          <a:lstStyle/>
          <a:p>
            <a:r>
              <a:rPr lang="en-US" dirty="0"/>
              <a:t>This clearly shows that Day of Week that is </a:t>
            </a:r>
            <a:r>
              <a:rPr lang="en-US" b="1" dirty="0"/>
              <a:t>Saturday</a:t>
            </a:r>
            <a:r>
              <a:rPr lang="en-US" dirty="0"/>
              <a:t> having the highest sales followed by Tuesday, Thursday, Sunday and so on</a:t>
            </a:r>
          </a:p>
        </p:txBody>
      </p:sp>
      <p:sp>
        <p:nvSpPr>
          <p:cNvPr id="6" name="Rectangle 5">
            <a:extLst>
              <a:ext uri="{FF2B5EF4-FFF2-40B4-BE49-F238E27FC236}">
                <a16:creationId xmlns:a16="http://schemas.microsoft.com/office/drawing/2014/main" id="{0B9438FC-B5AE-4542-B2D8-67553EEF4E1F}"/>
              </a:ext>
            </a:extLst>
          </p:cNvPr>
          <p:cNvSpPr/>
          <p:nvPr/>
        </p:nvSpPr>
        <p:spPr>
          <a:xfrm>
            <a:off x="444089" y="5792657"/>
            <a:ext cx="7388942" cy="369332"/>
          </a:xfrm>
          <a:prstGeom prst="rect">
            <a:avLst/>
          </a:prstGeom>
        </p:spPr>
        <p:txBody>
          <a:bodyPr wrap="square">
            <a:spAutoFit/>
          </a:bodyPr>
          <a:lstStyle/>
          <a:p>
            <a:r>
              <a:rPr lang="en-US" dirty="0"/>
              <a:t>Useful for </a:t>
            </a:r>
            <a:r>
              <a:rPr lang="en-US" b="1" dirty="0"/>
              <a:t>staff scheduling</a:t>
            </a:r>
            <a:r>
              <a:rPr lang="en-US" dirty="0"/>
              <a:t> and </a:t>
            </a:r>
            <a:r>
              <a:rPr lang="en-US" b="1" dirty="0"/>
              <a:t>weekend promotion strategy</a:t>
            </a:r>
            <a:r>
              <a:rPr lang="en-US" dirty="0"/>
              <a:t>.</a:t>
            </a:r>
          </a:p>
        </p:txBody>
      </p:sp>
      <p:sp>
        <p:nvSpPr>
          <p:cNvPr id="7" name="TextBox 6">
            <a:extLst>
              <a:ext uri="{FF2B5EF4-FFF2-40B4-BE49-F238E27FC236}">
                <a16:creationId xmlns:a16="http://schemas.microsoft.com/office/drawing/2014/main" id="{8FF88FFA-E4F2-4FC5-8BD6-325E8C5DDE8D}"/>
              </a:ext>
            </a:extLst>
          </p:cNvPr>
          <p:cNvSpPr txBox="1"/>
          <p:nvPr/>
        </p:nvSpPr>
        <p:spPr>
          <a:xfrm>
            <a:off x="444089" y="4846104"/>
            <a:ext cx="3793614" cy="400110"/>
          </a:xfrm>
          <a:prstGeom prst="rect">
            <a:avLst/>
          </a:prstGeom>
          <a:noFill/>
        </p:spPr>
        <p:txBody>
          <a:bodyPr wrap="square" rtlCol="0">
            <a:spAutoFit/>
          </a:bodyPr>
          <a:lstStyle/>
          <a:p>
            <a:r>
              <a:rPr lang="en-US" sz="2000" b="1" dirty="0"/>
              <a:t>Insights and Suggestion</a:t>
            </a:r>
            <a:r>
              <a:rPr lang="en-US" dirty="0"/>
              <a:t>:</a:t>
            </a:r>
          </a:p>
        </p:txBody>
      </p:sp>
    </p:spTree>
    <p:extLst>
      <p:ext uri="{BB962C8B-B14F-4D97-AF65-F5344CB8AC3E}">
        <p14:creationId xmlns:p14="http://schemas.microsoft.com/office/powerpoint/2010/main" val="736802741"/>
      </p:ext>
    </p:extLst>
  </p:cSld>
  <p:clrMapOvr>
    <a:masterClrMapping/>
  </p:clrMapOvr>
  <mc:AlternateContent xmlns:mc="http://schemas.openxmlformats.org/markup-compatibility/2006" xmlns:p14="http://schemas.microsoft.com/office/powerpoint/2010/main">
    <mc:Choice Requires="p14">
      <p:transition spd="slow" p14:dur="2000" advTm="12584"/>
    </mc:Choice>
    <mc:Fallback xmlns="">
      <p:transition spd="slow" advTm="1258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B8FFD-70F8-4E51-9E77-69D815413B00}"/>
              </a:ext>
            </a:extLst>
          </p:cNvPr>
          <p:cNvPicPr>
            <a:picLocks noChangeAspect="1"/>
          </p:cNvPicPr>
          <p:nvPr/>
        </p:nvPicPr>
        <p:blipFill>
          <a:blip r:embed="rId2"/>
          <a:stretch>
            <a:fillRect/>
          </a:stretch>
        </p:blipFill>
        <p:spPr>
          <a:xfrm>
            <a:off x="6772275" y="0"/>
            <a:ext cx="2371725" cy="1304925"/>
          </a:xfrm>
          <a:prstGeom prst="rect">
            <a:avLst/>
          </a:prstGeom>
        </p:spPr>
      </p:pic>
      <p:sp>
        <p:nvSpPr>
          <p:cNvPr id="3" name="TextBox 2">
            <a:extLst>
              <a:ext uri="{FF2B5EF4-FFF2-40B4-BE49-F238E27FC236}">
                <a16:creationId xmlns:a16="http://schemas.microsoft.com/office/drawing/2014/main" id="{1EA3F371-13C1-4D55-B23C-62B226B12A38}"/>
              </a:ext>
            </a:extLst>
          </p:cNvPr>
          <p:cNvSpPr txBox="1"/>
          <p:nvPr/>
        </p:nvSpPr>
        <p:spPr>
          <a:xfrm>
            <a:off x="486310" y="256193"/>
            <a:ext cx="6243484" cy="523220"/>
          </a:xfrm>
          <a:prstGeom prst="rect">
            <a:avLst/>
          </a:prstGeom>
          <a:noFill/>
        </p:spPr>
        <p:txBody>
          <a:bodyPr wrap="square" rtlCol="0">
            <a:spAutoFit/>
          </a:bodyPr>
          <a:lstStyle/>
          <a:p>
            <a:r>
              <a:rPr lang="en-US" sz="2800" b="1" dirty="0"/>
              <a:t>Final Conclusion: </a:t>
            </a:r>
          </a:p>
        </p:txBody>
      </p:sp>
      <p:sp>
        <p:nvSpPr>
          <p:cNvPr id="4" name="Rectangle 1">
            <a:extLst>
              <a:ext uri="{FF2B5EF4-FFF2-40B4-BE49-F238E27FC236}">
                <a16:creationId xmlns:a16="http://schemas.microsoft.com/office/drawing/2014/main" id="{49D2E472-591C-4482-9965-829CD2F28089}"/>
              </a:ext>
            </a:extLst>
          </p:cNvPr>
          <p:cNvSpPr>
            <a:spLocks noChangeArrowheads="1"/>
          </p:cNvSpPr>
          <p:nvPr/>
        </p:nvSpPr>
        <p:spPr bwMode="auto">
          <a:xfrm>
            <a:off x="486310" y="534293"/>
            <a:ext cx="8171380"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Branch A</a:t>
            </a:r>
            <a:r>
              <a:rPr kumimoji="0" lang="en-US" altLang="en-US" sz="1600" b="0" i="0" u="none" strike="noStrike" cap="none" normalizeH="0" baseline="0" dirty="0">
                <a:ln>
                  <a:noFill/>
                </a:ln>
                <a:solidFill>
                  <a:schemeClr val="tx1"/>
                </a:solidFill>
                <a:effectLst/>
                <a:latin typeface="Arial" panose="020B0604020202020204" pitchFamily="34" charset="0"/>
              </a:rPr>
              <a:t> showed the highest sales growth — indicating strong performance and potential for expansion.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Ewallet</a:t>
            </a:r>
            <a:r>
              <a:rPr kumimoji="0" lang="en-US" altLang="en-US" sz="1600" b="0" i="0" u="none" strike="noStrike" cap="none" normalizeH="0" baseline="0" dirty="0">
                <a:ln>
                  <a:noFill/>
                </a:ln>
                <a:solidFill>
                  <a:schemeClr val="tx1"/>
                </a:solidFill>
                <a:effectLst/>
                <a:latin typeface="Arial" panose="020B0604020202020204" pitchFamily="34" charset="0"/>
              </a:rPr>
              <a:t> emerged as the most used payment method in Yangon and Mandalay — digital payment optimization is recommended.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Members</a:t>
            </a:r>
            <a:r>
              <a:rPr kumimoji="0" lang="en-US" altLang="en-US" sz="1600" b="0" i="0" u="none" strike="noStrike" cap="none" normalizeH="0" baseline="0" dirty="0">
                <a:ln>
                  <a:noFill/>
                </a:ln>
                <a:solidFill>
                  <a:schemeClr val="tx1"/>
                </a:solidFill>
                <a:effectLst/>
                <a:latin typeface="Arial" panose="020B0604020202020204" pitchFamily="34" charset="0"/>
              </a:rPr>
              <a:t> preferred </a:t>
            </a:r>
            <a:r>
              <a:rPr kumimoji="0" lang="en-US" altLang="en-US" sz="1600" b="1" i="0" u="none" strike="noStrike" cap="none" normalizeH="0" baseline="0" dirty="0">
                <a:ln>
                  <a:noFill/>
                </a:ln>
                <a:solidFill>
                  <a:schemeClr val="tx1"/>
                </a:solidFill>
                <a:effectLst/>
                <a:latin typeface="Arial" panose="020B0604020202020204" pitchFamily="34" charset="0"/>
              </a:rPr>
              <a:t>Food &amp; Beverages</a:t>
            </a:r>
            <a:r>
              <a:rPr kumimoji="0" lang="en-US" altLang="en-US" sz="1600" b="0" i="0" u="none" strike="noStrike" cap="none" normalizeH="0" baseline="0" dirty="0">
                <a:ln>
                  <a:noFill/>
                </a:ln>
                <a:solidFill>
                  <a:schemeClr val="tx1"/>
                </a:solidFill>
                <a:effectLst/>
                <a:latin typeface="Arial" panose="020B0604020202020204" pitchFamily="34" charset="0"/>
              </a:rPr>
              <a:t>, while </a:t>
            </a:r>
            <a:r>
              <a:rPr kumimoji="0" lang="en-US" altLang="en-US" sz="1600" b="1" i="0" u="none" strike="noStrike" cap="none" normalizeH="0" baseline="0" dirty="0">
                <a:ln>
                  <a:noFill/>
                </a:ln>
                <a:solidFill>
                  <a:schemeClr val="tx1"/>
                </a:solidFill>
                <a:effectLst/>
                <a:latin typeface="Arial" panose="020B0604020202020204" pitchFamily="34" charset="0"/>
              </a:rPr>
              <a:t>Normal customers</a:t>
            </a:r>
            <a:r>
              <a:rPr kumimoji="0" lang="en-US" altLang="en-US" sz="1600" b="0" i="0" u="none" strike="noStrike" cap="none" normalizeH="0" baseline="0" dirty="0">
                <a:ln>
                  <a:noFill/>
                </a:ln>
                <a:solidFill>
                  <a:schemeClr val="tx1"/>
                </a:solidFill>
                <a:effectLst/>
                <a:latin typeface="Arial" panose="020B0604020202020204" pitchFamily="34" charset="0"/>
              </a:rPr>
              <a:t> leaned toward </a:t>
            </a:r>
            <a:r>
              <a:rPr kumimoji="0" lang="en-US" altLang="en-US" sz="1600" b="1" i="0" u="none" strike="noStrike" cap="none" normalizeH="0" baseline="0" dirty="0">
                <a:ln>
                  <a:noFill/>
                </a:ln>
                <a:solidFill>
                  <a:schemeClr val="tx1"/>
                </a:solidFill>
                <a:effectLst/>
                <a:latin typeface="Arial" panose="020B0604020202020204" pitchFamily="34" charset="0"/>
              </a:rPr>
              <a:t>Electronic Accessories</a:t>
            </a:r>
            <a:r>
              <a:rPr kumimoji="0" lang="en-US" altLang="en-US" sz="1600" b="0" i="0" u="none" strike="noStrike" cap="none" normalizeH="0" baseline="0" dirty="0">
                <a:ln>
                  <a:noFill/>
                </a:ln>
                <a:solidFill>
                  <a:schemeClr val="tx1"/>
                </a:solidFill>
                <a:effectLst/>
                <a:latin typeface="Arial" panose="020B0604020202020204" pitchFamily="34" charset="0"/>
              </a:rPr>
              <a:t> — helping in tailoring marketing strategies.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Identified </a:t>
            </a:r>
            <a:r>
              <a:rPr kumimoji="0" lang="en-US" altLang="en-US" sz="1600" b="1" i="0" u="none" strike="noStrike" cap="none" normalizeH="0" baseline="0" dirty="0">
                <a:ln>
                  <a:noFill/>
                </a:ln>
                <a:solidFill>
                  <a:schemeClr val="tx1"/>
                </a:solidFill>
                <a:effectLst/>
                <a:latin typeface="Arial" panose="020B0604020202020204" pitchFamily="34" charset="0"/>
              </a:rPr>
              <a:t>high-spending and repeat customers</a:t>
            </a:r>
            <a:r>
              <a:rPr kumimoji="0" lang="en-US" altLang="en-US" sz="1600" b="0" i="0" u="none" strike="noStrike" cap="none" normalizeH="0" baseline="0" dirty="0">
                <a:ln>
                  <a:noFill/>
                </a:ln>
                <a:solidFill>
                  <a:schemeClr val="tx1"/>
                </a:solidFill>
                <a:effectLst/>
                <a:latin typeface="Arial" panose="020B0604020202020204" pitchFamily="34" charset="0"/>
              </a:rPr>
              <a:t> — can be nurtured through loyalty programs and exclusive offers.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Saturday generated the highest revenue</a:t>
            </a:r>
            <a:r>
              <a:rPr kumimoji="0" lang="en-US" altLang="en-US" sz="1600" b="0" i="0" u="none" strike="noStrike" cap="none" normalizeH="0" baseline="0" dirty="0">
                <a:ln>
                  <a:noFill/>
                </a:ln>
                <a:solidFill>
                  <a:schemeClr val="tx1"/>
                </a:solidFill>
                <a:effectLst/>
                <a:latin typeface="Arial" panose="020B0604020202020204" pitchFamily="34" charset="0"/>
              </a:rPr>
              <a:t>— making weekends ideal for promotions and staffing adjustments.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Anomalous transactions</a:t>
            </a:r>
            <a:r>
              <a:rPr kumimoji="0" lang="en-US" altLang="en-US" sz="1600" b="0" i="0" u="none" strike="noStrike" cap="none" normalizeH="0" baseline="0" dirty="0">
                <a:ln>
                  <a:noFill/>
                </a:ln>
                <a:solidFill>
                  <a:schemeClr val="tx1"/>
                </a:solidFill>
                <a:effectLst/>
                <a:latin typeface="Arial" panose="020B0604020202020204" pitchFamily="34" charset="0"/>
              </a:rPr>
              <a:t> were flagged using data thresholds — useful for fraud detection and quality control.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The project effectively used </a:t>
            </a:r>
            <a:r>
              <a:rPr kumimoji="0" lang="en-US" altLang="en-US" sz="1600" b="1" i="0" u="none" strike="noStrike" cap="none" normalizeH="0" baseline="0" dirty="0">
                <a:ln>
                  <a:noFill/>
                </a:ln>
                <a:solidFill>
                  <a:schemeClr val="tx1"/>
                </a:solidFill>
                <a:effectLst/>
                <a:latin typeface="Arial" panose="020B0604020202020204" pitchFamily="34" charset="0"/>
              </a:rPr>
              <a:t>Advanced SQL techniques </a:t>
            </a:r>
            <a:r>
              <a:rPr kumimoji="0" lang="en-US" altLang="en-US" sz="1600" i="0" u="none" strike="noStrike" cap="none" normalizeH="0" baseline="0" dirty="0">
                <a:ln>
                  <a:noFill/>
                </a:ln>
                <a:solidFill>
                  <a:schemeClr val="tx1"/>
                </a:solidFill>
                <a:effectLst/>
                <a:latin typeface="Arial" panose="020B0604020202020204" pitchFamily="34" charset="0"/>
              </a:rPr>
              <a:t>like </a:t>
            </a:r>
            <a:r>
              <a:rPr lang="en-US" altLang="en-US" sz="1600" dirty="0">
                <a:latin typeface="Arial Unicode MS"/>
              </a:rPr>
              <a:t>RANK()</a:t>
            </a:r>
            <a:r>
              <a:rPr lang="en-US" altLang="en-US" sz="1600" dirty="0"/>
              <a:t>, </a:t>
            </a:r>
            <a:r>
              <a:rPr lang="en-US" altLang="en-US" sz="1600" dirty="0">
                <a:latin typeface="Arial Unicode MS"/>
              </a:rPr>
              <a:t>LAG()</a:t>
            </a:r>
            <a:r>
              <a:rPr lang="en-US" altLang="en-US" sz="1600" dirty="0"/>
              <a:t>, </a:t>
            </a:r>
            <a:r>
              <a:rPr lang="en-US" altLang="en-US" sz="1600" dirty="0">
                <a:latin typeface="Arial Unicode MS"/>
              </a:rPr>
              <a:t>NTILE()</a:t>
            </a:r>
            <a:r>
              <a:rPr lang="en-US" altLang="en-US" sz="1600" dirty="0"/>
              <a:t>, and </a:t>
            </a:r>
            <a:r>
              <a:rPr lang="en-US" altLang="en-US" sz="1600" b="1" dirty="0"/>
              <a:t>JOINS</a:t>
            </a:r>
            <a:r>
              <a:rPr lang="en-US" altLang="en-US" sz="1600" dirty="0"/>
              <a:t> to  convert RAW transaction data into </a:t>
            </a:r>
            <a:r>
              <a:rPr lang="en-US" sz="1600" dirty="0"/>
              <a:t>strategic business insights.</a:t>
            </a:r>
            <a:r>
              <a:rPr kumimoji="0" lang="en-US" altLang="en-US" sz="1600" i="0" u="none" strike="noStrike" cap="none" normalizeH="0" baseline="0" dirty="0">
                <a:ln>
                  <a:noFill/>
                </a:ln>
                <a:solidFill>
                  <a:schemeClr val="tx1"/>
                </a:solidFill>
                <a:effectLst/>
                <a:latin typeface="Arial" panose="020B0604020202020204" pitchFamily="34" charset="0"/>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FBE62919-3227-48BD-89ED-1420739E5BF6}"/>
              </a:ext>
            </a:extLst>
          </p:cNvPr>
          <p:cNvSpPr>
            <a:spLocks noChangeArrowheads="1"/>
          </p:cNvSpPr>
          <p:nvPr/>
        </p:nvSpPr>
        <p:spPr bwMode="auto">
          <a:xfrm>
            <a:off x="205483" y="5883517"/>
            <a:ext cx="886659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These insights can help Walmart to optimize its marketing, improve customer experience, and boost operational efficiency.</a:t>
            </a:r>
          </a:p>
        </p:txBody>
      </p:sp>
    </p:spTree>
    <p:extLst>
      <p:ext uri="{BB962C8B-B14F-4D97-AF65-F5344CB8AC3E}">
        <p14:creationId xmlns:p14="http://schemas.microsoft.com/office/powerpoint/2010/main" val="967989995"/>
      </p:ext>
    </p:extLst>
  </p:cSld>
  <p:clrMapOvr>
    <a:masterClrMapping/>
  </p:clrMapOvr>
  <mc:AlternateContent xmlns:mc="http://schemas.openxmlformats.org/markup-compatibility/2006" xmlns:p14="http://schemas.microsoft.com/office/powerpoint/2010/main">
    <mc:Choice Requires="p14">
      <p:transition spd="slow" p14:dur="2000" advTm="117235"/>
    </mc:Choice>
    <mc:Fallback xmlns="">
      <p:transition spd="slow" advTm="117235"/>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1170</TotalTime>
  <Words>2243</Words>
  <Application>Microsoft Office PowerPoint</Application>
  <PresentationFormat>On-screen Show (4:3)</PresentationFormat>
  <Paragraphs>323</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Arial Unicode MS</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Abhishek</dc:creator>
  <cp:keywords/>
  <dc:description>generated using python-pptx</dc:description>
  <cp:lastModifiedBy>Abhishek</cp:lastModifiedBy>
  <cp:revision>59</cp:revision>
  <dcterms:created xsi:type="dcterms:W3CDTF">2013-01-27T09:14:16Z</dcterms:created>
  <dcterms:modified xsi:type="dcterms:W3CDTF">2025-07-05T10:33:43Z</dcterms:modified>
  <cp:category/>
</cp:coreProperties>
</file>